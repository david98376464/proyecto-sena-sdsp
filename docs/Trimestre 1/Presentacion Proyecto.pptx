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handoutMasterIdLst>
    <p:handoutMasterId r:id="rId15"/>
  </p:handoutMasterIdLst>
  <p:sldIdLst>
    <p:sldId id="468" r:id="rId2"/>
    <p:sldId id="501" r:id="rId3"/>
    <p:sldId id="507" r:id="rId4"/>
    <p:sldId id="506" r:id="rId5"/>
    <p:sldId id="498" r:id="rId6"/>
    <p:sldId id="499" r:id="rId7"/>
    <p:sldId id="508" r:id="rId8"/>
    <p:sldId id="503" r:id="rId9"/>
    <p:sldId id="502" r:id="rId10"/>
    <p:sldId id="504" r:id="rId11"/>
    <p:sldId id="505" r:id="rId12"/>
    <p:sldId id="264" r:id="rId1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AA00"/>
    <a:srgbClr val="766363"/>
    <a:srgbClr val="FFF5EA"/>
    <a:srgbClr val="00324D"/>
    <a:srgbClr val="FF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04"/>
    <p:restoredTop sz="86369"/>
  </p:normalViewPr>
  <p:slideViewPr>
    <p:cSldViewPr snapToGrid="0">
      <p:cViewPr>
        <p:scale>
          <a:sx n="82" d="100"/>
          <a:sy n="82" d="100"/>
        </p:scale>
        <p:origin x="614"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iven Alvarez" userId="3852d42ef867fb61" providerId="LiveId" clId="{5B664F74-F520-47FE-A0EC-E9C8480C519B}"/>
    <pc:docChg chg="modSld sldOrd">
      <pc:chgData name="Stiven Alvarez" userId="3852d42ef867fb61" providerId="LiveId" clId="{5B664F74-F520-47FE-A0EC-E9C8480C519B}" dt="2026-04-10T00:47:18.400" v="7"/>
      <pc:docMkLst>
        <pc:docMk/>
      </pc:docMkLst>
      <pc:sldChg chg="modSp mod">
        <pc:chgData name="Stiven Alvarez" userId="3852d42ef867fb61" providerId="LiveId" clId="{5B664F74-F520-47FE-A0EC-E9C8480C519B}" dt="2026-04-10T00:45:26.071" v="5" actId="20577"/>
        <pc:sldMkLst>
          <pc:docMk/>
          <pc:sldMk cId="2099732435" sldId="498"/>
        </pc:sldMkLst>
        <pc:spChg chg="mod">
          <ac:chgData name="Stiven Alvarez" userId="3852d42ef867fb61" providerId="LiveId" clId="{5B664F74-F520-47FE-A0EC-E9C8480C519B}" dt="2026-04-10T00:45:26.071" v="5" actId="20577"/>
          <ac:spMkLst>
            <pc:docMk/>
            <pc:sldMk cId="2099732435" sldId="498"/>
            <ac:spMk id="7" creationId="{9896E8B4-453C-7E26-D038-59933D4B744F}"/>
          </ac:spMkLst>
        </pc:spChg>
      </pc:sldChg>
      <pc:sldChg chg="ord">
        <pc:chgData name="Stiven Alvarez" userId="3852d42ef867fb61" providerId="LiveId" clId="{5B664F74-F520-47FE-A0EC-E9C8480C519B}" dt="2026-04-10T00:47:18.400" v="7"/>
        <pc:sldMkLst>
          <pc:docMk/>
          <pc:sldMk cId="685387458" sldId="499"/>
        </pc:sldMkLst>
      </pc:sldChg>
      <pc:sldChg chg="modSp mod">
        <pc:chgData name="Stiven Alvarez" userId="3852d42ef867fb61" providerId="LiveId" clId="{5B664F74-F520-47FE-A0EC-E9C8480C519B}" dt="2026-04-09T23:56:57.397" v="4" actId="255"/>
        <pc:sldMkLst>
          <pc:docMk/>
          <pc:sldMk cId="2675829308" sldId="503"/>
        </pc:sldMkLst>
        <pc:spChg chg="mod">
          <ac:chgData name="Stiven Alvarez" userId="3852d42ef867fb61" providerId="LiveId" clId="{5B664F74-F520-47FE-A0EC-E9C8480C519B}" dt="2026-04-09T23:56:57.397" v="4" actId="255"/>
          <ac:spMkLst>
            <pc:docMk/>
            <pc:sldMk cId="2675829308" sldId="503"/>
            <ac:spMk id="5" creationId="{F1BA9FFE-C826-B1B2-109D-38BB7FBB311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10/04/2026</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10/04/2026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1</a:t>
            </a:fld>
            <a:endParaRPr lang="es-CO"/>
          </a:p>
        </p:txBody>
      </p:sp>
    </p:spTree>
    <p:extLst>
      <p:ext uri="{BB962C8B-B14F-4D97-AF65-F5344CB8AC3E}">
        <p14:creationId xmlns:p14="http://schemas.microsoft.com/office/powerpoint/2010/main" val="117892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5</a:t>
            </a:fld>
            <a:endParaRPr lang="es-CO"/>
          </a:p>
        </p:txBody>
      </p:sp>
    </p:spTree>
    <p:extLst>
      <p:ext uri="{BB962C8B-B14F-4D97-AF65-F5344CB8AC3E}">
        <p14:creationId xmlns:p14="http://schemas.microsoft.com/office/powerpoint/2010/main" val="36085203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10</a:t>
            </a:fld>
            <a:endParaRPr lang="es-CO"/>
          </a:p>
        </p:txBody>
      </p:sp>
    </p:spTree>
    <p:extLst>
      <p:ext uri="{BB962C8B-B14F-4D97-AF65-F5344CB8AC3E}">
        <p14:creationId xmlns:p14="http://schemas.microsoft.com/office/powerpoint/2010/main" val="253927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10/04/2026</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10/04/2026</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10/04/2026</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10/04/2026</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10/04/2026</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10/04/2026</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10/04/2026</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54162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10/04/2026</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10/04/2026</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10/04/2026</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Encabezado de sección">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B25968F-984F-8BF4-4FF0-2432A9923EB8}"/>
              </a:ext>
            </a:extLst>
          </p:cNvPr>
          <p:cNvPicPr>
            <a:picLocks noChangeAspect="1"/>
          </p:cNvPicPr>
          <p:nvPr userDrawn="1"/>
        </p:nvPicPr>
        <p:blipFill>
          <a:blip r:embed="rId2"/>
          <a:stretch>
            <a:fillRect/>
          </a:stretch>
        </p:blipFill>
        <p:spPr>
          <a:xfrm>
            <a:off x="11027833" y="317431"/>
            <a:ext cx="811391" cy="790587"/>
          </a:xfrm>
          <a:prstGeom prst="rect">
            <a:avLst/>
          </a:prstGeom>
        </p:spPr>
      </p:pic>
    </p:spTree>
    <p:extLst>
      <p:ext uri="{BB962C8B-B14F-4D97-AF65-F5344CB8AC3E}">
        <p14:creationId xmlns:p14="http://schemas.microsoft.com/office/powerpoint/2010/main" val="32468285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10/04/2026</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Encabezado de sección">
    <p:spTree>
      <p:nvGrpSpPr>
        <p:cNvPr id="1" name=""/>
        <p:cNvGrpSpPr/>
        <p:nvPr/>
      </p:nvGrpSpPr>
      <p:grpSpPr>
        <a:xfrm>
          <a:off x="0" y="0"/>
          <a:ext cx="0" cy="0"/>
          <a:chOff x="0" y="0"/>
          <a:chExt cx="0" cy="0"/>
        </a:xfrm>
      </p:grpSpPr>
      <p:pic>
        <p:nvPicPr>
          <p:cNvPr id="6" name="Imagen 5" descr="Patrón de fondo&#10;&#10;Descripción generada automáticamente">
            <a:extLst>
              <a:ext uri="{FF2B5EF4-FFF2-40B4-BE49-F238E27FC236}">
                <a16:creationId xmlns:a16="http://schemas.microsoft.com/office/drawing/2014/main" id="{EDE1298D-A4F7-F1E4-F1B3-3D2F5117E046}"/>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4" name="Imagen 3">
            <a:extLst>
              <a:ext uri="{FF2B5EF4-FFF2-40B4-BE49-F238E27FC236}">
                <a16:creationId xmlns:a16="http://schemas.microsoft.com/office/drawing/2014/main" id="{69B39820-C822-5D71-439D-76D8E95C16E9}"/>
              </a:ext>
            </a:extLst>
          </p:cNvPr>
          <p:cNvPicPr>
            <a:picLocks noChangeAspect="1"/>
          </p:cNvPicPr>
          <p:nvPr userDrawn="1"/>
        </p:nvPicPr>
        <p:blipFill>
          <a:blip r:embed="rId3"/>
          <a:stretch>
            <a:fillRect/>
          </a:stretch>
        </p:blipFill>
        <p:spPr>
          <a:xfrm>
            <a:off x="11054859" y="303050"/>
            <a:ext cx="855785" cy="833982"/>
          </a:xfrm>
          <a:prstGeom prst="rect">
            <a:avLst/>
          </a:prstGeom>
        </p:spPr>
      </p:pic>
    </p:spTree>
    <p:extLst>
      <p:ext uri="{BB962C8B-B14F-4D97-AF65-F5344CB8AC3E}">
        <p14:creationId xmlns:p14="http://schemas.microsoft.com/office/powerpoint/2010/main" val="33703603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10/04/2026</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1456598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pic>
        <p:nvPicPr>
          <p:cNvPr id="3" name="Imagen 2" descr="Interfaz de usuario gráfica, Texto, Aplicación&#10;&#10;Descripción generada automáticamente">
            <a:extLst>
              <a:ext uri="{FF2B5EF4-FFF2-40B4-BE49-F238E27FC236}">
                <a16:creationId xmlns:a16="http://schemas.microsoft.com/office/drawing/2014/main" id="{7DFF890D-F3AC-9928-32A3-F179DB21A0E8}"/>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84946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10/04/2026</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2" r:id="rId11"/>
    <p:sldLayoutId id="2147483659" r:id="rId12"/>
    <p:sldLayoutId id="2147483663" r:id="rId13"/>
    <p:sldLayoutId id="2147483675" r:id="rId14"/>
    <p:sldLayoutId id="214748367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995422" y="2551837"/>
            <a:ext cx="6453678" cy="2400657"/>
          </a:xfrm>
          <a:prstGeom prst="rect">
            <a:avLst/>
          </a:prstGeom>
          <a:noFill/>
        </p:spPr>
        <p:txBody>
          <a:bodyPr wrap="square" rtlCol="0">
            <a:spAutoFit/>
          </a:bodyPr>
          <a:lstStyle/>
          <a:p>
            <a:r>
              <a:rPr lang="es-CO" sz="3200" dirty="0"/>
              <a:t>Software de Documentación y Seguimiento de Proyectos (SDSP) de Soluciones N Ingeniería S.A.S</a:t>
            </a:r>
          </a:p>
          <a:p>
            <a:endParaRPr lang="es-ES" sz="5400" b="1" dirty="0">
              <a:solidFill>
                <a:schemeClr val="tx1">
                  <a:lumMod val="75000"/>
                  <a:lumOff val="25000"/>
                </a:schemeClr>
              </a:solidFill>
              <a:latin typeface="Work Sans" pitchFamily="2" charset="77"/>
            </a:endParaRPr>
          </a:p>
        </p:txBody>
      </p:sp>
      <p:sp>
        <p:nvSpPr>
          <p:cNvPr id="3" name="CuadroTexto 2">
            <a:extLst>
              <a:ext uri="{FF2B5EF4-FFF2-40B4-BE49-F238E27FC236}">
                <a16:creationId xmlns:a16="http://schemas.microsoft.com/office/drawing/2014/main" id="{26C05A2B-6507-2EF0-F494-33970E913DEF}"/>
              </a:ext>
            </a:extLst>
          </p:cNvPr>
          <p:cNvSpPr txBox="1"/>
          <p:nvPr/>
        </p:nvSpPr>
        <p:spPr>
          <a:xfrm>
            <a:off x="7753739" y="4432041"/>
            <a:ext cx="4151966" cy="1200329"/>
          </a:xfrm>
          <a:prstGeom prst="rect">
            <a:avLst/>
          </a:prstGeom>
          <a:noFill/>
        </p:spPr>
        <p:txBody>
          <a:bodyPr wrap="square" rtlCol="0">
            <a:spAutoFit/>
          </a:bodyPr>
          <a:lstStyle/>
          <a:p>
            <a:r>
              <a:rPr lang="es-CO" dirty="0"/>
              <a:t>Alvarez Hernández Estiven David </a:t>
            </a:r>
          </a:p>
          <a:p>
            <a:r>
              <a:rPr lang="es-CO" dirty="0"/>
              <a:t>Diaz Navas Juan Diego</a:t>
            </a:r>
          </a:p>
          <a:p>
            <a:r>
              <a:rPr lang="es-CO" dirty="0"/>
              <a:t>Martínez Aponte Jhohan Camilo</a:t>
            </a:r>
          </a:p>
          <a:p>
            <a:r>
              <a:rPr lang="es-CO" dirty="0"/>
              <a:t>Vega Oyola José Fernando </a:t>
            </a:r>
          </a:p>
        </p:txBody>
      </p:sp>
    </p:spTree>
    <p:extLst>
      <p:ext uri="{BB962C8B-B14F-4D97-AF65-F5344CB8AC3E}">
        <p14:creationId xmlns:p14="http://schemas.microsoft.com/office/powerpoint/2010/main" val="3079616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F67CBC-1536-A090-A5B5-FE205F3AF4AD}"/>
              </a:ext>
            </a:extLst>
          </p:cNvPr>
          <p:cNvSpPr txBox="1">
            <a:spLocks/>
          </p:cNvSpPr>
          <p:nvPr/>
        </p:nvSpPr>
        <p:spPr>
          <a:xfrm>
            <a:off x="456236" y="457723"/>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dirty="0">
                <a:solidFill>
                  <a:schemeClr val="tx1">
                    <a:lumMod val="95000"/>
                    <a:lumOff val="5000"/>
                  </a:schemeClr>
                </a:solidFill>
                <a:latin typeface="Work Sans Medium" pitchFamily="2" charset="77"/>
              </a:rPr>
              <a:t>Planteamiento</a:t>
            </a:r>
          </a:p>
        </p:txBody>
      </p:sp>
      <p:sp>
        <p:nvSpPr>
          <p:cNvPr id="3" name="CuadroTexto 2">
            <a:extLst>
              <a:ext uri="{FF2B5EF4-FFF2-40B4-BE49-F238E27FC236}">
                <a16:creationId xmlns:a16="http://schemas.microsoft.com/office/drawing/2014/main" id="{2FE731A4-74BA-6796-AAC4-DEDD00961D2D}"/>
              </a:ext>
            </a:extLst>
          </p:cNvPr>
          <p:cNvSpPr txBox="1"/>
          <p:nvPr/>
        </p:nvSpPr>
        <p:spPr>
          <a:xfrm>
            <a:off x="690465" y="1511559"/>
            <a:ext cx="10786188" cy="4460033"/>
          </a:xfrm>
          <a:prstGeom prst="rect">
            <a:avLst/>
          </a:prstGeom>
          <a:noFill/>
        </p:spPr>
        <p:txBody>
          <a:bodyPr wrap="square" rtlCol="0">
            <a:spAutoFit/>
          </a:bodyPr>
          <a:lstStyle/>
          <a:p>
            <a:endParaRPr lang="es-CO"/>
          </a:p>
        </p:txBody>
      </p:sp>
      <p:sp>
        <p:nvSpPr>
          <p:cNvPr id="4" name="CuadroTexto 3">
            <a:extLst>
              <a:ext uri="{FF2B5EF4-FFF2-40B4-BE49-F238E27FC236}">
                <a16:creationId xmlns:a16="http://schemas.microsoft.com/office/drawing/2014/main" id="{AD735296-A20F-5B6B-6A94-1C2B25219AD3}"/>
              </a:ext>
            </a:extLst>
          </p:cNvPr>
          <p:cNvSpPr txBox="1"/>
          <p:nvPr/>
        </p:nvSpPr>
        <p:spPr>
          <a:xfrm>
            <a:off x="606491" y="1511559"/>
            <a:ext cx="10515599" cy="4247317"/>
          </a:xfrm>
          <a:prstGeom prst="rect">
            <a:avLst/>
          </a:prstGeom>
          <a:noFill/>
        </p:spPr>
        <p:txBody>
          <a:bodyPr wrap="square" rtlCol="0">
            <a:spAutoFit/>
          </a:bodyPr>
          <a:lstStyle/>
          <a:p>
            <a:r>
              <a:rPr lang="es-ES" dirty="0"/>
              <a:t>La empresa Soluciones N Ingeniería S.A.S es una empresa dedicada a la prestación de servicios en mantenimiento de obra civil, infraestructura y mantenimiento electromecánico, incluyendo actividades como instalaciones eléctricas, mantenimiento de redes hidráulicas, reparaciones locativas, impermeabilización, y mantenimiento de sistemas de bombeo de agua, entre otros .</a:t>
            </a:r>
          </a:p>
          <a:p>
            <a:endParaRPr lang="es-ES" dirty="0"/>
          </a:p>
          <a:p>
            <a:r>
              <a:rPr lang="es-ES" dirty="0"/>
              <a:t>Inicialmente, la empresa fue creada para la ejecución de trabajos pequeños y servicios técnicos básicos, lo que permitió que sus procesos se manejaran de manera informal y manual sin generar mayores inconvenientes. Sin embargo, con el paso del tiempo, la empresa ha tenido un crecimiento significativo, ampliando su portafolio de servicios y aumentando la cantidad de proyectos ejecutados de forma simultánea.</a:t>
            </a:r>
          </a:p>
          <a:p>
            <a:endParaRPr lang="es-ES" dirty="0"/>
          </a:p>
          <a:p>
            <a:r>
              <a:rPr lang="es-ES" dirty="0"/>
              <a:t>Este crecimiento no fue acompañado por la implementación de herramientas tecnológicas adecuadas, por lo que actualmente la gestión de la información continúa realizándose mediante herramientas básicas como archivos de Excel, documentos de Word, registros físicos, correos electrónicos y grupos de WhatsApp . Esto ha generado una serie de problemáticas dentro de la organización.</a:t>
            </a:r>
          </a:p>
          <a:p>
            <a:endParaRPr lang="es-ES" dirty="0"/>
          </a:p>
        </p:txBody>
      </p:sp>
    </p:spTree>
    <p:extLst>
      <p:ext uri="{BB962C8B-B14F-4D97-AF65-F5344CB8AC3E}">
        <p14:creationId xmlns:p14="http://schemas.microsoft.com/office/powerpoint/2010/main" val="1500403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2ABB596E-AE4C-FA38-F88A-361BF634615D}"/>
              </a:ext>
            </a:extLst>
          </p:cNvPr>
          <p:cNvSpPr>
            <a:spLocks noChangeArrowheads="1"/>
          </p:cNvSpPr>
          <p:nvPr/>
        </p:nvSpPr>
        <p:spPr bwMode="auto">
          <a:xfrm>
            <a:off x="519404" y="1227162"/>
            <a:ext cx="1145177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CO" altLang="es-CO" b="0" i="0" u="none" strike="noStrike" cap="none" normalizeH="0" baseline="0" dirty="0">
                <a:ln>
                  <a:noFill/>
                </a:ln>
                <a:solidFill>
                  <a:schemeClr val="tx1"/>
                </a:solidFill>
                <a:effectLst/>
                <a:latin typeface="Arial" panose="020B0604020202020204" pitchFamily="34" charset="0"/>
              </a:rPr>
              <a:t>La información no se encuentra centralizada, sino distribuida en múltiples medios como archivos de Excel, documentos de Word, registros físicos, correos electrónicos y grupos de WhatsApp, lo que dificulta su acceso, consulta y actualización.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CO" altLang="es-CO" b="0" i="0" u="none" strike="noStrike" cap="none" normalizeH="0" baseline="0" dirty="0">
                <a:ln>
                  <a:noFill/>
                </a:ln>
                <a:solidFill>
                  <a:schemeClr val="tx1"/>
                </a:solidFill>
                <a:effectLst/>
                <a:latin typeface="Arial" panose="020B0604020202020204" pitchFamily="34" charset="0"/>
              </a:rPr>
              <a:t>El seguimiento de los proyectos se realiza de manera manual, dependiendo de reportes de los encargados de obra, los cuales no siempre se entregan a tiempo ni se registran adecuadamente.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CO" altLang="es-CO" b="0" i="0" u="none" strike="noStrike" cap="none" normalizeH="0" baseline="0" dirty="0">
                <a:ln>
                  <a:noFill/>
                </a:ln>
                <a:solidFill>
                  <a:schemeClr val="tx1"/>
                </a:solidFill>
                <a:effectLst/>
                <a:latin typeface="Arial" panose="020B0604020202020204" pitchFamily="34" charset="0"/>
              </a:rPr>
              <a:t>Existen falencias en el registro de los materiales utilizados en cada obra, ya que no se documenta de manera organizada su uso, lo que genera pérdida de información y dificulta la trazabilidad de los recursos empleados.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CO" altLang="es-CO" b="0" i="0" u="none" strike="noStrike" cap="none" normalizeH="0" baseline="0" dirty="0">
                <a:ln>
                  <a:noFill/>
                </a:ln>
                <a:solidFill>
                  <a:schemeClr val="tx1"/>
                </a:solidFill>
                <a:effectLst/>
                <a:latin typeface="Arial" panose="020B0604020202020204" pitchFamily="34" charset="0"/>
              </a:rPr>
              <a:t>La asignación del personal se realiza de manera informal, sin un sistema estructurado que permita controlar su participación en los proyectos.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CO" altLang="es-CO" b="0" i="0" u="none" strike="noStrike" cap="none" normalizeH="0" baseline="0" dirty="0">
                <a:ln>
                  <a:noFill/>
                </a:ln>
                <a:solidFill>
                  <a:schemeClr val="tx1"/>
                </a:solidFill>
                <a:effectLst/>
                <a:latin typeface="Arial" panose="020B0604020202020204" pitchFamily="34" charset="0"/>
              </a:rPr>
              <a:t>No existe un registro formal de incidencias o novedades en obra, lo que impide contar con un historial de los proyectos ejecutados.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CO" altLang="es-CO" b="0" i="0" u="none" strike="noStrike" cap="none" normalizeH="0" baseline="0" dirty="0">
                <a:ln>
                  <a:noFill/>
                </a:ln>
                <a:solidFill>
                  <a:schemeClr val="tx1"/>
                </a:solidFill>
                <a:effectLst/>
                <a:latin typeface="Arial" panose="020B0604020202020204" pitchFamily="34" charset="0"/>
              </a:rPr>
              <a:t>La comunicación interna se realiza principalmente por medio de grupos de WhatsApp, generando desorden en la información y dificultando su seguimiento. </a:t>
            </a:r>
          </a:p>
        </p:txBody>
      </p:sp>
    </p:spTree>
    <p:extLst>
      <p:ext uri="{BB962C8B-B14F-4D97-AF65-F5344CB8AC3E}">
        <p14:creationId xmlns:p14="http://schemas.microsoft.com/office/powerpoint/2010/main" val="210835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8369AB9-18A4-3283-2C83-2881B57EA237}"/>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9DE26BA6-2701-7E0B-4744-0B89F9C3682B}"/>
              </a:ext>
            </a:extLst>
          </p:cNvPr>
          <p:cNvSpPr txBox="1">
            <a:spLocks/>
          </p:cNvSpPr>
          <p:nvPr/>
        </p:nvSpPr>
        <p:spPr>
          <a:xfrm>
            <a:off x="456236" y="416689"/>
            <a:ext cx="10515600" cy="741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dirty="0">
                <a:solidFill>
                  <a:schemeClr val="bg1"/>
                </a:solidFill>
                <a:latin typeface="Work Sans Medium" pitchFamily="2" charset="77"/>
              </a:rPr>
              <a:t>PREGUNTA PROBLEMA</a:t>
            </a:r>
          </a:p>
        </p:txBody>
      </p:sp>
      <p:sp>
        <p:nvSpPr>
          <p:cNvPr id="2" name="CuadroTexto 1">
            <a:extLst>
              <a:ext uri="{FF2B5EF4-FFF2-40B4-BE49-F238E27FC236}">
                <a16:creationId xmlns:a16="http://schemas.microsoft.com/office/drawing/2014/main" id="{B9BBD1FC-F1A7-5219-7BE1-F65BA9389158}"/>
              </a:ext>
            </a:extLst>
          </p:cNvPr>
          <p:cNvSpPr txBox="1"/>
          <p:nvPr/>
        </p:nvSpPr>
        <p:spPr>
          <a:xfrm>
            <a:off x="530881" y="2230017"/>
            <a:ext cx="10627567" cy="2062103"/>
          </a:xfrm>
          <a:prstGeom prst="rect">
            <a:avLst/>
          </a:prstGeom>
          <a:noFill/>
        </p:spPr>
        <p:txBody>
          <a:bodyPr wrap="square" rtlCol="0">
            <a:spAutoFit/>
          </a:bodyPr>
          <a:lstStyle/>
          <a:p>
            <a:r>
              <a:rPr lang="es-ES" sz="3200" dirty="0">
                <a:solidFill>
                  <a:schemeClr val="bg1"/>
                </a:solidFill>
              </a:rPr>
              <a:t>¿Cómo desarrollar un software que permita centralizar y gestionar la información de los proyectos de la empresa(Obras) Soluciones N Ingeniería S.A.S para mejorar su seguimiento y control?</a:t>
            </a:r>
            <a:endParaRPr lang="es-CO" sz="3200" dirty="0"/>
          </a:p>
        </p:txBody>
      </p:sp>
    </p:spTree>
    <p:extLst>
      <p:ext uri="{BB962C8B-B14F-4D97-AF65-F5344CB8AC3E}">
        <p14:creationId xmlns:p14="http://schemas.microsoft.com/office/powerpoint/2010/main" val="1751059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6D04A5A-19A9-0ACE-6D0F-5E02EDC9D1DE}"/>
              </a:ext>
            </a:extLst>
          </p:cNvPr>
          <p:cNvSpPr txBox="1"/>
          <p:nvPr/>
        </p:nvSpPr>
        <p:spPr>
          <a:xfrm>
            <a:off x="924466" y="1121003"/>
            <a:ext cx="8943475" cy="1200329"/>
          </a:xfrm>
          <a:prstGeom prst="rect">
            <a:avLst/>
          </a:prstGeom>
          <a:noFill/>
        </p:spPr>
        <p:txBody>
          <a:bodyPr wrap="none" rtlCol="0">
            <a:spAutoFit/>
          </a:bodyPr>
          <a:lstStyle/>
          <a:p>
            <a:pPr algn="ctr"/>
            <a:r>
              <a:rPr lang="es-CO" sz="7200" dirty="0">
                <a:latin typeface="Work Sans Light" pitchFamily="2" charset="77"/>
              </a:rPr>
              <a:t>OBJETIVO GENERAL</a:t>
            </a:r>
          </a:p>
        </p:txBody>
      </p:sp>
      <p:cxnSp>
        <p:nvCxnSpPr>
          <p:cNvPr id="6" name="Conector recto 5">
            <a:extLst>
              <a:ext uri="{FF2B5EF4-FFF2-40B4-BE49-F238E27FC236}">
                <a16:creationId xmlns:a16="http://schemas.microsoft.com/office/drawing/2014/main" id="{12E6F1CF-C64D-CB82-1478-686F9F9BAF5F}"/>
              </a:ext>
            </a:extLst>
          </p:cNvPr>
          <p:cNvCxnSpPr>
            <a:cxnSpLocks/>
          </p:cNvCxnSpPr>
          <p:nvPr/>
        </p:nvCxnSpPr>
        <p:spPr>
          <a:xfrm>
            <a:off x="4630740" y="2230252"/>
            <a:ext cx="1736203" cy="0"/>
          </a:xfrm>
          <a:prstGeom prst="line">
            <a:avLst/>
          </a:prstGeom>
          <a:ln>
            <a:solidFill>
              <a:srgbClr val="38AA00"/>
            </a:solidFill>
          </a:ln>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9896E8B4-453C-7E26-D038-59933D4B744F}"/>
              </a:ext>
            </a:extLst>
          </p:cNvPr>
          <p:cNvSpPr txBox="1"/>
          <p:nvPr/>
        </p:nvSpPr>
        <p:spPr>
          <a:xfrm>
            <a:off x="772886" y="3339502"/>
            <a:ext cx="10646228" cy="2246769"/>
          </a:xfrm>
          <a:prstGeom prst="rect">
            <a:avLst/>
          </a:prstGeom>
          <a:noFill/>
        </p:spPr>
        <p:txBody>
          <a:bodyPr wrap="square" rtlCol="0">
            <a:spAutoFit/>
          </a:bodyPr>
          <a:lstStyle/>
          <a:p>
            <a:r>
              <a:rPr lang="es-CO" sz="2000" dirty="0"/>
              <a:t>Desarrollar un software que permita a la empresa Soluciones N Ingeniería S.A.S registrar y documentar digitalmente la información relacionada con los trabajos, servicios y obras de mantenimiento que realiza la empresa, con el fin de mejorar la organización, el seguimiento y el control de estas actividades.</a:t>
            </a:r>
          </a:p>
          <a:p>
            <a:r>
              <a:rPr lang="es-CO" sz="2000" dirty="0"/>
              <a:t>El sistema estará enfocado únicamente en el registro y documentación de las obras y servicios realizadas por la empresa, sin intervenir en inventarios, procesos administrativos, contables o financieros de la empresa.</a:t>
            </a:r>
          </a:p>
        </p:txBody>
      </p:sp>
    </p:spTree>
    <p:extLst>
      <p:ext uri="{BB962C8B-B14F-4D97-AF65-F5344CB8AC3E}">
        <p14:creationId xmlns:p14="http://schemas.microsoft.com/office/powerpoint/2010/main" val="2099732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B65FDE73-C641-1100-C209-6B5902DCC3EC}"/>
              </a:ext>
            </a:extLst>
          </p:cNvPr>
          <p:cNvSpPr/>
          <p:nvPr/>
        </p:nvSpPr>
        <p:spPr>
          <a:xfrm>
            <a:off x="840227" y="839808"/>
            <a:ext cx="2939970" cy="34724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4" name="Título 1">
            <a:extLst>
              <a:ext uri="{FF2B5EF4-FFF2-40B4-BE49-F238E27FC236}">
                <a16:creationId xmlns:a16="http://schemas.microsoft.com/office/drawing/2014/main" id="{EE37A3CD-1BAC-6175-4755-9AC66A46B6FF}"/>
              </a:ext>
            </a:extLst>
          </p:cNvPr>
          <p:cNvSpPr txBox="1">
            <a:spLocks/>
          </p:cNvSpPr>
          <p:nvPr/>
        </p:nvSpPr>
        <p:spPr>
          <a:xfrm>
            <a:off x="532317" y="163210"/>
            <a:ext cx="2640957"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dirty="0"/>
              <a:t>Objetivos específicos</a:t>
            </a:r>
          </a:p>
          <a:p>
            <a:endParaRPr lang="es-CO" dirty="0">
              <a:solidFill>
                <a:srgbClr val="38AA00"/>
              </a:solidFill>
              <a:latin typeface="Work Sans Light" pitchFamily="2" charset="77"/>
            </a:endParaRPr>
          </a:p>
        </p:txBody>
      </p:sp>
      <p:sp>
        <p:nvSpPr>
          <p:cNvPr id="5" name="Rectangle 2">
            <a:extLst>
              <a:ext uri="{FF2B5EF4-FFF2-40B4-BE49-F238E27FC236}">
                <a16:creationId xmlns:a16="http://schemas.microsoft.com/office/drawing/2014/main" id="{6120D380-6B7E-9075-CD34-D91CC4218285}"/>
              </a:ext>
            </a:extLst>
          </p:cNvPr>
          <p:cNvSpPr>
            <a:spLocks noChangeArrowheads="1"/>
          </p:cNvSpPr>
          <p:nvPr/>
        </p:nvSpPr>
        <p:spPr bwMode="auto">
          <a:xfrm rot="10800000" flipV="1">
            <a:off x="298579" y="1354494"/>
            <a:ext cx="10711544"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CO" altLang="es-CO"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Desarrollar una herramienta de registro de proyectos que permita almacenar información como fechas, cliente, responsables y estado de ejecución de cada obra.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CO" altLang="es-CO"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Implementar un proceso de gestión de clientes que permita registrar, actualizar y consultar la información asociada a cada cliente y su relación con los proyectos.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CO" altLang="es-CO"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Diseñar un mecanismo de registro de personal que permita almacenar información básica de los trabajadores, como nombre, especialidad (por ejemplo: electricista, plomero, entre otros) y su estado de asignación, indicando si se encuentra vinculado a una obra y, en caso afirmativo, a cuál o cuáles proyectos, sin involucrar procesos propios de gestión de recursos humanos.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CO" altLang="es-CO"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Establecer un esquema de documentación de materiales utilizados en obra, enfocado exclusivamente en el registro de los materiales empleados en cada proyecto, con el fin de llevar trazabilidad de su uso dentro de las actividades ejecutadas, sin incluir procesos de control de inventarios, almacenamiento o gestión logística.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CO" altLang="es-CO"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Implementar un proceso de seguimiento de proyectos mediante el registro de tareas, avances e incidencias, permitiendo controlar el desarrollo de cada obra.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CO" altLang="es-CO"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Desarrollar un componente de generación de reportes que permita visualizar el estado y avance de los proyectos mediante diagramas de Gantt, facilitando el seguimiento y la toma de decisiones. </a:t>
            </a:r>
          </a:p>
        </p:txBody>
      </p:sp>
    </p:spTree>
    <p:extLst>
      <p:ext uri="{BB962C8B-B14F-4D97-AF65-F5344CB8AC3E}">
        <p14:creationId xmlns:p14="http://schemas.microsoft.com/office/powerpoint/2010/main" val="685387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A221943-F895-E10F-C95D-401218A78B6A}"/>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75798D21-A453-032E-E208-2314A63C0FDC}"/>
              </a:ext>
            </a:extLst>
          </p:cNvPr>
          <p:cNvSpPr txBox="1">
            <a:spLocks/>
          </p:cNvSpPr>
          <p:nvPr/>
        </p:nvSpPr>
        <p:spPr>
          <a:xfrm>
            <a:off x="456236" y="416689"/>
            <a:ext cx="10515600" cy="741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dirty="0">
                <a:solidFill>
                  <a:schemeClr val="bg1"/>
                </a:solidFill>
                <a:latin typeface="Work Sans Medium" pitchFamily="2" charset="77"/>
              </a:rPr>
              <a:t>JUSTIFICACIÓN</a:t>
            </a:r>
          </a:p>
        </p:txBody>
      </p:sp>
      <p:sp>
        <p:nvSpPr>
          <p:cNvPr id="2" name="CuadroTexto 1">
            <a:extLst>
              <a:ext uri="{FF2B5EF4-FFF2-40B4-BE49-F238E27FC236}">
                <a16:creationId xmlns:a16="http://schemas.microsoft.com/office/drawing/2014/main" id="{38E81C06-FA36-7B09-978A-92B45D20E4F6}"/>
              </a:ext>
            </a:extLst>
          </p:cNvPr>
          <p:cNvSpPr txBox="1"/>
          <p:nvPr/>
        </p:nvSpPr>
        <p:spPr>
          <a:xfrm>
            <a:off x="456236" y="1259633"/>
            <a:ext cx="10627567" cy="5170646"/>
          </a:xfrm>
          <a:prstGeom prst="rect">
            <a:avLst/>
          </a:prstGeom>
          <a:noFill/>
        </p:spPr>
        <p:txBody>
          <a:bodyPr wrap="square" rtlCol="0">
            <a:spAutoFit/>
          </a:bodyPr>
          <a:lstStyle/>
          <a:p>
            <a:r>
              <a:rPr lang="es-CO" sz="2200" dirty="0">
                <a:solidFill>
                  <a:schemeClr val="bg1"/>
                </a:solidFill>
              </a:rPr>
              <a:t>La</a:t>
            </a:r>
            <a:r>
              <a:rPr lang="es-ES" sz="2200" dirty="0">
                <a:solidFill>
                  <a:schemeClr val="bg1"/>
                </a:solidFill>
              </a:rPr>
              <a:t> adecuada gestión de la información en proyectos de construcción es fundamental para garantizar el control, seguimiento y correcta ejecución de las actividades. Cuando los datos se manejan de forma manual o dispersa en diferentes medios, se incrementa el riesgo de pérdida de información, errores en los registros y dificultades en la toma de decisiones. En la empresa Soluciones N Ingeniería S.A.S, el crecimiento organizacional y la ejecución simultánea de múltiples proyectos han evidenciado la necesidad de mejorar la gestión de la información. Actualmente, el uso de herramientas como Excel, Word, documentos físicos, correos electrónicos y aplicaciones de mensajería genera desorganización y dificulta el acceso oportuno y confiable a los datos de cada obra. Esta situación afecta el seguimiento de los proyectos, el control de las actividades ejecutadas y la disponibilidad de información histórica, lo que limita la eficiencia operativa de la empresa. Por esta razón, el desarrollo de un software permitirá centralizar la información, mejorar la organización de los proyectos, optimizar el seguimiento de las actividades y facilitar el registro y consulta de la información relacionada con las obras, contribuyendo a una mejor toma de decisiones y al fortalecimiento de los procesos internos de la empresa.</a:t>
            </a:r>
            <a:endParaRPr lang="es-CO" sz="2200" dirty="0"/>
          </a:p>
        </p:txBody>
      </p:sp>
    </p:spTree>
    <p:extLst>
      <p:ext uri="{BB962C8B-B14F-4D97-AF65-F5344CB8AC3E}">
        <p14:creationId xmlns:p14="http://schemas.microsoft.com/office/powerpoint/2010/main" val="14789547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1100-8805-626A-A57E-1B701F74BCB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DDE1430-2E5F-FFEA-65D8-7B4DEC79D05D}"/>
              </a:ext>
            </a:extLst>
          </p:cNvPr>
          <p:cNvSpPr>
            <a:spLocks noGrp="1"/>
          </p:cNvSpPr>
          <p:nvPr>
            <p:ph type="title"/>
          </p:nvPr>
        </p:nvSpPr>
        <p:spPr>
          <a:xfrm>
            <a:off x="456236" y="110481"/>
            <a:ext cx="10515600" cy="1325563"/>
          </a:xfrm>
        </p:spPr>
        <p:txBody>
          <a:bodyPr/>
          <a:lstStyle/>
          <a:p>
            <a:r>
              <a:rPr lang="es-CO" dirty="0">
                <a:solidFill>
                  <a:schemeClr val="bg1"/>
                </a:solidFill>
                <a:latin typeface="Work Sans Medium" pitchFamily="2" charset="77"/>
              </a:rPr>
              <a:t>ALCANCE</a:t>
            </a:r>
          </a:p>
        </p:txBody>
      </p:sp>
      <p:sp>
        <p:nvSpPr>
          <p:cNvPr id="5" name="CuadroTexto 4">
            <a:extLst>
              <a:ext uri="{FF2B5EF4-FFF2-40B4-BE49-F238E27FC236}">
                <a16:creationId xmlns:a16="http://schemas.microsoft.com/office/drawing/2014/main" id="{F1BA9FFE-C826-B1B2-109D-38BB7FBB3110}"/>
              </a:ext>
            </a:extLst>
          </p:cNvPr>
          <p:cNvSpPr txBox="1"/>
          <p:nvPr/>
        </p:nvSpPr>
        <p:spPr>
          <a:xfrm>
            <a:off x="111967" y="1539551"/>
            <a:ext cx="10515600" cy="5447645"/>
          </a:xfrm>
          <a:prstGeom prst="rect">
            <a:avLst/>
          </a:prstGeom>
          <a:noFill/>
        </p:spPr>
        <p:txBody>
          <a:bodyPr wrap="square" rtlCol="0">
            <a:spAutoFit/>
          </a:bodyPr>
          <a:lstStyle/>
          <a:p>
            <a:r>
              <a:rPr lang="es-CO" sz="2200" dirty="0"/>
              <a:t>El</a:t>
            </a:r>
            <a:r>
              <a:rPr lang="es-ES" sz="2200" dirty="0"/>
              <a:t> proyecto consiste en el desarrollo de un software que permita a la empresa Soluciones N Ingeniería S.A.S gestionar y organizar digitalmente la información relacionada con los trabajos y servicios que realiza.</a:t>
            </a:r>
          </a:p>
          <a:p>
            <a:r>
              <a:rPr lang="es-ES" sz="2200" dirty="0"/>
              <a:t>El sistema permitirá registrar y consultar información de clientes, proyectos u obras, personal asignado, materiales utilizados y el avance de las actividades. Asimismo, permitirá documentar la asignación de trabajadores a los proyectos, registrar tareas, avances e incidencias, y generar reportes de seguimiento del progreso mediante diagramas de Gantt.</a:t>
            </a:r>
          </a:p>
          <a:p>
            <a:r>
              <a:rPr lang="es-ES" sz="2200" dirty="0"/>
              <a:t>El software estará enfocado en la organización, registro y consulta de la información generada durante la ejecución de los trabajos, incluyendo mantenimientos de infraestructura, servicios electromecánicos y reparaciones técnicas.</a:t>
            </a:r>
          </a:p>
          <a:p>
            <a:r>
              <a:rPr lang="es-ES" sz="2200" dirty="0"/>
              <a:t>En cuanto al manejo del personal, el sistema se limitará al registro de información básica y su relación con los proyectos, sin involucrar procesos propios de la gestión de recursos humanos. De igual forma, el registro de materiales estará orientado únicamente a documentar su uso dentro de cada obra, sin incluir funcionalidades de control de inventarios o gestión logística.</a:t>
            </a:r>
          </a:p>
          <a:p>
            <a:endParaRPr lang="es-CO" dirty="0"/>
          </a:p>
        </p:txBody>
      </p:sp>
    </p:spTree>
    <p:extLst>
      <p:ext uri="{BB962C8B-B14F-4D97-AF65-F5344CB8AC3E}">
        <p14:creationId xmlns:p14="http://schemas.microsoft.com/office/powerpoint/2010/main" val="2675829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s-CO" dirty="0">
                <a:solidFill>
                  <a:schemeClr val="bg1"/>
                </a:solidFill>
                <a:latin typeface="Work Sans Medium" pitchFamily="2" charset="77"/>
              </a:rPr>
              <a:t>MÓDULOS DEL SISTEMA (1 Y 2)</a:t>
            </a:r>
          </a:p>
        </p:txBody>
      </p:sp>
      <p:sp>
        <p:nvSpPr>
          <p:cNvPr id="6" name="CuadroTexto 5">
            <a:extLst>
              <a:ext uri="{FF2B5EF4-FFF2-40B4-BE49-F238E27FC236}">
                <a16:creationId xmlns:a16="http://schemas.microsoft.com/office/drawing/2014/main" id="{43503090-ADDF-1E29-2D51-64DB448EEDA7}"/>
              </a:ext>
            </a:extLst>
          </p:cNvPr>
          <p:cNvSpPr txBox="1"/>
          <p:nvPr/>
        </p:nvSpPr>
        <p:spPr>
          <a:xfrm>
            <a:off x="521551" y="1566673"/>
            <a:ext cx="4190410" cy="4832092"/>
          </a:xfrm>
          <a:prstGeom prst="rect">
            <a:avLst/>
          </a:prstGeom>
          <a:noFill/>
        </p:spPr>
        <p:txBody>
          <a:bodyPr wrap="square" rtlCol="0">
            <a:spAutoFit/>
          </a:bodyPr>
          <a:lstStyle/>
          <a:p>
            <a:r>
              <a:rPr lang="es-CO" sz="2200" dirty="0"/>
              <a:t>1.</a:t>
            </a:r>
            <a:r>
              <a:rPr lang="es-ES" sz="2200" dirty="0"/>
              <a:t>Módulo de gestión de clientes</a:t>
            </a:r>
          </a:p>
          <a:p>
            <a:r>
              <a:rPr lang="es-ES" sz="2200" dirty="0"/>
              <a:t>Funcionalidades:</a:t>
            </a:r>
          </a:p>
          <a:p>
            <a:pPr marL="342900" indent="-342900">
              <a:buFont typeface="Arial" panose="020B0604020202020204" pitchFamily="34" charset="0"/>
              <a:buChar char="•"/>
            </a:pPr>
            <a:r>
              <a:rPr lang="es-ES" sz="2200" dirty="0"/>
              <a:t>Registrar información de clientes.</a:t>
            </a:r>
          </a:p>
          <a:p>
            <a:pPr marL="342900" indent="-342900">
              <a:buFont typeface="Arial" panose="020B0604020202020204" pitchFamily="34" charset="0"/>
              <a:buChar char="•"/>
            </a:pPr>
            <a:r>
              <a:rPr lang="es-ES" sz="2200" dirty="0"/>
              <a:t>Actualizar datos de clientes.</a:t>
            </a:r>
          </a:p>
          <a:p>
            <a:pPr marL="342900" indent="-342900">
              <a:buFont typeface="Arial" panose="020B0604020202020204" pitchFamily="34" charset="0"/>
              <a:buChar char="•"/>
            </a:pPr>
            <a:r>
              <a:rPr lang="es-ES" sz="2200" dirty="0"/>
              <a:t>Consultar información de clientes.</a:t>
            </a:r>
          </a:p>
          <a:p>
            <a:pPr marL="342900" indent="-342900">
              <a:buFont typeface="Arial" panose="020B0604020202020204" pitchFamily="34" charset="0"/>
              <a:buChar char="•"/>
            </a:pPr>
            <a:r>
              <a:rPr lang="es-ES" sz="2200" dirty="0"/>
              <a:t>Consultar historial de proyectos asociados a cada cliente.</a:t>
            </a:r>
          </a:p>
          <a:p>
            <a:r>
              <a:rPr lang="es-ES" sz="2200" dirty="0"/>
              <a:t>Este módulo se limita al registro y consulta de información de clientes. No incluye procesos comerciales, facturación, contratos ni gestión administrativa.</a:t>
            </a:r>
            <a:endParaRPr lang="es-CO" sz="2200" dirty="0"/>
          </a:p>
        </p:txBody>
      </p:sp>
      <p:sp>
        <p:nvSpPr>
          <p:cNvPr id="7" name="CuadroTexto 6">
            <a:extLst>
              <a:ext uri="{FF2B5EF4-FFF2-40B4-BE49-F238E27FC236}">
                <a16:creationId xmlns:a16="http://schemas.microsoft.com/office/drawing/2014/main" id="{D4FB0401-1409-A6A2-8948-35DF932271FF}"/>
              </a:ext>
            </a:extLst>
          </p:cNvPr>
          <p:cNvSpPr txBox="1"/>
          <p:nvPr/>
        </p:nvSpPr>
        <p:spPr>
          <a:xfrm>
            <a:off x="6195527" y="1996750"/>
            <a:ext cx="5159828" cy="4801314"/>
          </a:xfrm>
          <a:prstGeom prst="rect">
            <a:avLst/>
          </a:prstGeom>
          <a:noFill/>
        </p:spPr>
        <p:txBody>
          <a:bodyPr wrap="square" rtlCol="0">
            <a:spAutoFit/>
          </a:bodyPr>
          <a:lstStyle/>
          <a:p>
            <a:r>
              <a:rPr lang="es-CO" b="1" dirty="0"/>
              <a:t>2. </a:t>
            </a:r>
            <a:r>
              <a:rPr lang="es-ES" b="1" dirty="0"/>
              <a:t>Módulo de gestión de proyectos</a:t>
            </a:r>
          </a:p>
          <a:p>
            <a:r>
              <a:rPr lang="es-ES" b="1" dirty="0"/>
              <a:t>Funcionalidades:</a:t>
            </a:r>
            <a:endParaRPr lang="es-ES" dirty="0"/>
          </a:p>
          <a:p>
            <a:pPr marL="285750" indent="-285750">
              <a:buFont typeface="Arial" panose="020B0604020202020204" pitchFamily="34" charset="0"/>
              <a:buChar char="•"/>
            </a:pPr>
            <a:r>
              <a:rPr lang="es-ES" dirty="0"/>
              <a:t>Registrar proyectos u obras. </a:t>
            </a:r>
          </a:p>
          <a:p>
            <a:pPr marL="285750" indent="-285750">
              <a:buFont typeface="Arial" panose="020B0604020202020204" pitchFamily="34" charset="0"/>
              <a:buChar char="•"/>
            </a:pPr>
            <a:r>
              <a:rPr lang="es-ES" dirty="0"/>
              <a:t>Definir fechas de inicio y finalización estimada. </a:t>
            </a:r>
          </a:p>
          <a:p>
            <a:pPr marL="285750" indent="-285750">
              <a:buFont typeface="Arial" panose="020B0604020202020204" pitchFamily="34" charset="0"/>
              <a:buChar char="•"/>
            </a:pPr>
            <a:r>
              <a:rPr lang="es-ES" dirty="0"/>
              <a:t>Asociar clientes a los proyectos. </a:t>
            </a:r>
          </a:p>
          <a:p>
            <a:pPr marL="285750" indent="-285750">
              <a:buFont typeface="Arial" panose="020B0604020202020204" pitchFamily="34" charset="0"/>
              <a:buChar char="•"/>
            </a:pPr>
            <a:r>
              <a:rPr lang="es-ES" dirty="0"/>
              <a:t>Asignar responsables principales del proyecto. </a:t>
            </a:r>
          </a:p>
          <a:p>
            <a:pPr marL="285750" indent="-285750">
              <a:buFont typeface="Arial" panose="020B0604020202020204" pitchFamily="34" charset="0"/>
              <a:buChar char="•"/>
            </a:pPr>
            <a:r>
              <a:rPr lang="es-ES" dirty="0"/>
              <a:t>Actualizar el estado del proyecto (Planeación, en ejecución, finalizado). </a:t>
            </a:r>
          </a:p>
          <a:p>
            <a:pPr marL="285750" indent="-285750">
              <a:buFont typeface="Arial" panose="020B0604020202020204" pitchFamily="34" charset="0"/>
              <a:buChar char="•"/>
            </a:pPr>
            <a:r>
              <a:rPr lang="es-ES" dirty="0"/>
              <a:t>Registrar incidencias o novedades del proyecto. </a:t>
            </a:r>
          </a:p>
          <a:p>
            <a:pPr marL="285750" indent="-285750">
              <a:buFont typeface="Arial" panose="020B0604020202020204" pitchFamily="34" charset="0"/>
              <a:buChar char="•"/>
            </a:pPr>
            <a:r>
              <a:rPr lang="es-ES" dirty="0"/>
              <a:t>Consultar información general del proyecto. </a:t>
            </a:r>
          </a:p>
          <a:p>
            <a:br>
              <a:rPr lang="es-ES" dirty="0"/>
            </a:br>
            <a:r>
              <a:rPr lang="es-ES" dirty="0"/>
              <a:t>Este módulo gestiona únicamente la información general del proyecto.</a:t>
            </a:r>
            <a:br>
              <a:rPr lang="es-ES" dirty="0"/>
            </a:br>
            <a:r>
              <a:rPr lang="es-ES" dirty="0"/>
              <a:t>No incluye tareas, seguimiento detallado, reportes ni gestión de recursos.</a:t>
            </a:r>
          </a:p>
          <a:p>
            <a:pPr lvl="0"/>
            <a:endParaRPr lang="es-CO" dirty="0"/>
          </a:p>
          <a:p>
            <a:endParaRPr lang="es-CO" dirty="0"/>
          </a:p>
        </p:txBody>
      </p:sp>
    </p:spTree>
    <p:extLst>
      <p:ext uri="{BB962C8B-B14F-4D97-AF65-F5344CB8AC3E}">
        <p14:creationId xmlns:p14="http://schemas.microsoft.com/office/powerpoint/2010/main" val="2874888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44B2E50-FF5F-C99C-8BD8-8D17A7739AD8}"/>
            </a:ext>
          </a:extLst>
        </p:cNvPr>
        <p:cNvGrpSpPr/>
        <p:nvPr/>
      </p:nvGrpSpPr>
      <p:grpSpPr>
        <a:xfrm>
          <a:off x="0" y="0"/>
          <a:ext cx="0" cy="0"/>
          <a:chOff x="0" y="0"/>
          <a:chExt cx="0" cy="0"/>
        </a:xfrm>
      </p:grpSpPr>
      <p:sp>
        <p:nvSpPr>
          <p:cNvPr id="3" name="Título 1">
            <a:extLst>
              <a:ext uri="{FF2B5EF4-FFF2-40B4-BE49-F238E27FC236}">
                <a16:creationId xmlns:a16="http://schemas.microsoft.com/office/drawing/2014/main" id="{715CF5E1-87CD-481F-FDF8-7D65B49F0267}"/>
              </a:ext>
            </a:extLst>
          </p:cNvPr>
          <p:cNvSpPr txBox="1">
            <a:spLocks/>
          </p:cNvSpPr>
          <p:nvPr/>
        </p:nvSpPr>
        <p:spPr>
          <a:xfrm>
            <a:off x="456236" y="416689"/>
            <a:ext cx="10515600" cy="741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dirty="0">
                <a:solidFill>
                  <a:schemeClr val="bg1"/>
                </a:solidFill>
                <a:latin typeface="Work Sans Medium" pitchFamily="2" charset="77"/>
              </a:rPr>
              <a:t>MÓDULOS DEL SISTEMA (3 Y 4)</a:t>
            </a:r>
          </a:p>
        </p:txBody>
      </p:sp>
      <p:sp>
        <p:nvSpPr>
          <p:cNvPr id="2" name="CuadroTexto 1">
            <a:extLst>
              <a:ext uri="{FF2B5EF4-FFF2-40B4-BE49-F238E27FC236}">
                <a16:creationId xmlns:a16="http://schemas.microsoft.com/office/drawing/2014/main" id="{C6E3F0C7-2CF3-ADE2-B2BF-B0EBCC170E8D}"/>
              </a:ext>
            </a:extLst>
          </p:cNvPr>
          <p:cNvSpPr txBox="1"/>
          <p:nvPr/>
        </p:nvSpPr>
        <p:spPr>
          <a:xfrm>
            <a:off x="317241" y="1296955"/>
            <a:ext cx="5778759" cy="4401205"/>
          </a:xfrm>
          <a:prstGeom prst="rect">
            <a:avLst/>
          </a:prstGeom>
          <a:noFill/>
        </p:spPr>
        <p:txBody>
          <a:bodyPr wrap="square" rtlCol="0">
            <a:spAutoFit/>
          </a:bodyPr>
          <a:lstStyle/>
          <a:p>
            <a:r>
              <a:rPr lang="es-CO" sz="2000" b="1" dirty="0">
                <a:solidFill>
                  <a:schemeClr val="bg1"/>
                </a:solidFill>
              </a:rPr>
              <a:t>3. M</a:t>
            </a:r>
            <a:r>
              <a:rPr lang="es-ES" sz="2000" b="1" dirty="0" err="1">
                <a:solidFill>
                  <a:schemeClr val="bg1"/>
                </a:solidFill>
              </a:rPr>
              <a:t>ódulo</a:t>
            </a:r>
            <a:r>
              <a:rPr lang="es-ES" sz="2000" b="1" dirty="0">
                <a:solidFill>
                  <a:schemeClr val="bg1"/>
                </a:solidFill>
              </a:rPr>
              <a:t> de gestión de personal</a:t>
            </a:r>
          </a:p>
          <a:p>
            <a:r>
              <a:rPr lang="es-ES" sz="2000" b="1" dirty="0">
                <a:solidFill>
                  <a:schemeClr val="bg1"/>
                </a:solidFill>
              </a:rPr>
              <a:t>Funcionalidades:</a:t>
            </a:r>
          </a:p>
          <a:p>
            <a:pPr marL="342900" indent="-342900">
              <a:buFont typeface="Arial" panose="020B0604020202020204" pitchFamily="34" charset="0"/>
              <a:buChar char="•"/>
            </a:pPr>
            <a:r>
              <a:rPr lang="es-ES" sz="2000" b="1" dirty="0">
                <a:solidFill>
                  <a:schemeClr val="bg1"/>
                </a:solidFill>
              </a:rPr>
              <a:t>Registrar información básica del personal (nombre, especialidad u oficio).</a:t>
            </a:r>
          </a:p>
          <a:p>
            <a:pPr marL="342900" indent="-342900">
              <a:buFont typeface="Arial" panose="020B0604020202020204" pitchFamily="34" charset="0"/>
              <a:buChar char="•"/>
            </a:pPr>
            <a:r>
              <a:rPr lang="es-ES" sz="2000" b="1" dirty="0">
                <a:solidFill>
                  <a:schemeClr val="bg1"/>
                </a:solidFill>
              </a:rPr>
              <a:t>Actualizar información básica del personal.</a:t>
            </a:r>
          </a:p>
          <a:p>
            <a:pPr marL="342900" indent="-342900">
              <a:buFont typeface="Arial" panose="020B0604020202020204" pitchFamily="34" charset="0"/>
              <a:buChar char="•"/>
            </a:pPr>
            <a:r>
              <a:rPr lang="es-ES" sz="2000" b="1" dirty="0">
                <a:solidFill>
                  <a:schemeClr val="bg1"/>
                </a:solidFill>
              </a:rPr>
              <a:t>Asociar empleados a proyectos específicos.</a:t>
            </a:r>
          </a:p>
          <a:p>
            <a:pPr marL="342900" indent="-342900">
              <a:buFont typeface="Arial" panose="020B0604020202020204" pitchFamily="34" charset="0"/>
              <a:buChar char="•"/>
            </a:pPr>
            <a:r>
              <a:rPr lang="es-ES" sz="2000" b="1" dirty="0">
                <a:solidFill>
                  <a:schemeClr val="bg1"/>
                </a:solidFill>
              </a:rPr>
              <a:t>Consultar participación de empleados en proyectos.</a:t>
            </a:r>
          </a:p>
          <a:p>
            <a:pPr marL="342900" indent="-342900">
              <a:buFont typeface="Arial" panose="020B0604020202020204" pitchFamily="34" charset="0"/>
              <a:buChar char="•"/>
            </a:pPr>
            <a:r>
              <a:rPr lang="es-ES" sz="2000" b="1" dirty="0">
                <a:solidFill>
                  <a:schemeClr val="bg1"/>
                </a:solidFill>
              </a:rPr>
              <a:t>Identificar si un empleado está asignado o no a una obra.</a:t>
            </a:r>
          </a:p>
          <a:p>
            <a:pPr marL="342900" indent="-342900">
              <a:buFont typeface="Arial" panose="020B0604020202020204" pitchFamily="34" charset="0"/>
              <a:buChar char="•"/>
            </a:pPr>
            <a:r>
              <a:rPr lang="es-ES" sz="2000" b="1" dirty="0">
                <a:solidFill>
                  <a:schemeClr val="bg1"/>
                </a:solidFill>
              </a:rPr>
              <a:t>Este módulo se enfoca en el registro y relación del personal con los proyectos.</a:t>
            </a:r>
          </a:p>
          <a:p>
            <a:pPr marL="342900" indent="-342900">
              <a:buFont typeface="Arial" panose="020B0604020202020204" pitchFamily="34" charset="0"/>
              <a:buChar char="•"/>
            </a:pPr>
            <a:r>
              <a:rPr lang="es-ES" sz="2000" b="1" dirty="0">
                <a:solidFill>
                  <a:schemeClr val="bg1"/>
                </a:solidFill>
              </a:rPr>
              <a:t>No incluye contratación, nómina, evaluaciones, ni procesos de recursos humanos.</a:t>
            </a:r>
            <a:endParaRPr lang="es-CO" dirty="0"/>
          </a:p>
        </p:txBody>
      </p:sp>
      <p:sp>
        <p:nvSpPr>
          <p:cNvPr id="4" name="CuadroTexto 3">
            <a:extLst>
              <a:ext uri="{FF2B5EF4-FFF2-40B4-BE49-F238E27FC236}">
                <a16:creationId xmlns:a16="http://schemas.microsoft.com/office/drawing/2014/main" id="{E384A8B1-9395-F5A3-7BF6-EC2172000025}"/>
              </a:ext>
            </a:extLst>
          </p:cNvPr>
          <p:cNvSpPr txBox="1"/>
          <p:nvPr/>
        </p:nvSpPr>
        <p:spPr>
          <a:xfrm>
            <a:off x="6270171" y="1296955"/>
            <a:ext cx="5150498" cy="4431983"/>
          </a:xfrm>
          <a:prstGeom prst="rect">
            <a:avLst/>
          </a:prstGeom>
          <a:noFill/>
        </p:spPr>
        <p:txBody>
          <a:bodyPr wrap="square" rtlCol="0">
            <a:spAutoFit/>
          </a:bodyPr>
          <a:lstStyle/>
          <a:p>
            <a:r>
              <a:rPr lang="es-CO" sz="2400" b="1" dirty="0">
                <a:solidFill>
                  <a:schemeClr val="bg1"/>
                </a:solidFill>
              </a:rPr>
              <a:t>4</a:t>
            </a:r>
            <a:r>
              <a:rPr lang="es-CO" sz="2000" b="1" dirty="0">
                <a:solidFill>
                  <a:schemeClr val="bg1"/>
                </a:solidFill>
              </a:rPr>
              <a:t>. </a:t>
            </a:r>
            <a:r>
              <a:rPr lang="es-CO" sz="2000" b="1" dirty="0" err="1">
                <a:solidFill>
                  <a:schemeClr val="bg1"/>
                </a:solidFill>
              </a:rPr>
              <a:t>Mó</a:t>
            </a:r>
            <a:r>
              <a:rPr lang="es-ES" sz="2000" b="1" dirty="0" err="1">
                <a:solidFill>
                  <a:schemeClr val="bg1"/>
                </a:solidFill>
              </a:rPr>
              <a:t>dulo</a:t>
            </a:r>
            <a:r>
              <a:rPr lang="es-ES" sz="2000" b="1" dirty="0">
                <a:solidFill>
                  <a:schemeClr val="bg1"/>
                </a:solidFill>
              </a:rPr>
              <a:t> de registro de materiales por proyecto</a:t>
            </a:r>
          </a:p>
          <a:p>
            <a:r>
              <a:rPr lang="es-ES" sz="2000" b="1" dirty="0">
                <a:solidFill>
                  <a:schemeClr val="bg1"/>
                </a:solidFill>
              </a:rPr>
              <a:t>Funcionalidades:</a:t>
            </a:r>
          </a:p>
          <a:p>
            <a:pPr marL="342900" indent="-342900">
              <a:buFont typeface="Arial" panose="020B0604020202020204" pitchFamily="34" charset="0"/>
              <a:buChar char="•"/>
            </a:pPr>
            <a:r>
              <a:rPr lang="es-ES" sz="2000" b="1" dirty="0">
                <a:solidFill>
                  <a:schemeClr val="bg1"/>
                </a:solidFill>
              </a:rPr>
              <a:t>Registrar los materiales utilizados en cada proyecto.</a:t>
            </a:r>
          </a:p>
          <a:p>
            <a:pPr marL="342900" indent="-342900">
              <a:buFont typeface="Arial" panose="020B0604020202020204" pitchFamily="34" charset="0"/>
              <a:buChar char="•"/>
            </a:pPr>
            <a:r>
              <a:rPr lang="es-ES" sz="2000" b="1" dirty="0">
                <a:solidFill>
                  <a:schemeClr val="bg1"/>
                </a:solidFill>
              </a:rPr>
              <a:t>Asociar materiales a un proyecto específico.</a:t>
            </a:r>
          </a:p>
          <a:p>
            <a:pPr marL="342900" indent="-342900">
              <a:buFont typeface="Arial" panose="020B0604020202020204" pitchFamily="34" charset="0"/>
              <a:buChar char="•"/>
            </a:pPr>
            <a:r>
              <a:rPr lang="es-ES" sz="2000" b="1" dirty="0">
                <a:solidFill>
                  <a:schemeClr val="bg1"/>
                </a:solidFill>
              </a:rPr>
              <a:t>Consultar los materiales registrados por proyecto. </a:t>
            </a:r>
          </a:p>
          <a:p>
            <a:r>
              <a:rPr lang="es-ES" sz="2000" b="1" dirty="0">
                <a:solidFill>
                  <a:schemeClr val="bg1"/>
                </a:solidFill>
              </a:rPr>
              <a:t>Este módulo solo documenta los materiales utilizados en las obras.</a:t>
            </a:r>
          </a:p>
          <a:p>
            <a:r>
              <a:rPr lang="es-ES" sz="2000" b="1" dirty="0">
                <a:solidFill>
                  <a:schemeClr val="bg1"/>
                </a:solidFill>
              </a:rPr>
              <a:t>No incluye control de inventarios, entradas/salidas, compras, almacenamiento ni logística.</a:t>
            </a:r>
            <a:r>
              <a:rPr lang="es-CO" sz="2000" b="1" dirty="0"/>
              <a:t> </a:t>
            </a:r>
            <a:endParaRPr lang="es-CO" sz="2000" dirty="0"/>
          </a:p>
          <a:p>
            <a:endParaRPr lang="es-CO" dirty="0"/>
          </a:p>
        </p:txBody>
      </p:sp>
    </p:spTree>
    <p:extLst>
      <p:ext uri="{BB962C8B-B14F-4D97-AF65-F5344CB8AC3E}">
        <p14:creationId xmlns:p14="http://schemas.microsoft.com/office/powerpoint/2010/main" val="2464599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34E74CA0-3076-A968-AA32-1423E27BCBF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6341415-17E2-51B1-DCB0-7CC4751A78AB}"/>
              </a:ext>
            </a:extLst>
          </p:cNvPr>
          <p:cNvSpPr txBox="1">
            <a:spLocks/>
          </p:cNvSpPr>
          <p:nvPr/>
        </p:nvSpPr>
        <p:spPr>
          <a:xfrm>
            <a:off x="456236" y="457723"/>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dirty="0">
                <a:solidFill>
                  <a:schemeClr val="tx1">
                    <a:lumMod val="95000"/>
                    <a:lumOff val="5000"/>
                  </a:schemeClr>
                </a:solidFill>
                <a:latin typeface="Work Sans Medium" pitchFamily="2" charset="77"/>
              </a:rPr>
              <a:t>MÓDULO DEL SISTEMA (5)</a:t>
            </a:r>
          </a:p>
        </p:txBody>
      </p:sp>
      <p:sp>
        <p:nvSpPr>
          <p:cNvPr id="5" name="CuadroTexto 4">
            <a:extLst>
              <a:ext uri="{FF2B5EF4-FFF2-40B4-BE49-F238E27FC236}">
                <a16:creationId xmlns:a16="http://schemas.microsoft.com/office/drawing/2014/main" id="{DDA0FD38-B058-25F0-59E1-FD0606F472FC}"/>
              </a:ext>
            </a:extLst>
          </p:cNvPr>
          <p:cNvSpPr txBox="1"/>
          <p:nvPr/>
        </p:nvSpPr>
        <p:spPr>
          <a:xfrm>
            <a:off x="625151" y="1963695"/>
            <a:ext cx="9311951" cy="3762120"/>
          </a:xfrm>
          <a:prstGeom prst="rect">
            <a:avLst/>
          </a:prstGeom>
          <a:noFill/>
        </p:spPr>
        <p:txBody>
          <a:bodyPr wrap="square">
            <a:spAutoFit/>
          </a:bodyPr>
          <a:lstStyle/>
          <a:p>
            <a:pPr algn="just">
              <a:lnSpc>
                <a:spcPct val="115000"/>
              </a:lnSpc>
              <a:spcAft>
                <a:spcPts val="800"/>
              </a:spcAft>
              <a:buNone/>
            </a:pPr>
            <a:r>
              <a:rPr lang="es-CO" kern="0" dirty="0">
                <a:effectLst/>
                <a:latin typeface="Times New Roman" panose="02020603050405020304" pitchFamily="18" charset="0"/>
                <a:ea typeface="Times New Roman" panose="02020603050405020304" pitchFamily="18" charset="0"/>
                <a:cs typeface="Times New Roman" panose="02020603050405020304" pitchFamily="18" charset="0"/>
              </a:rPr>
              <a:t>5.</a:t>
            </a: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Módulo de seguimiento de proyectos</a:t>
            </a:r>
          </a:p>
          <a:p>
            <a:pPr algn="just">
              <a:lnSpc>
                <a:spcPct val="115000"/>
              </a:lnSpc>
              <a:spcAft>
                <a:spcPts val="800"/>
              </a:spcAft>
              <a:buNone/>
            </a:pP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Funcionalidades:</a:t>
            </a:r>
          </a:p>
          <a:p>
            <a:pPr marL="285750" indent="-285750" algn="just">
              <a:lnSpc>
                <a:spcPct val="115000"/>
              </a:lnSpc>
              <a:spcAft>
                <a:spcPts val="800"/>
              </a:spcAft>
              <a:buFont typeface="Arial" panose="020B0604020202020204" pitchFamily="34" charset="0"/>
              <a:buChar char="•"/>
            </a:pP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Registrar tareas asociadas a un proyecto.</a:t>
            </a:r>
          </a:p>
          <a:p>
            <a:pPr marL="285750" indent="-285750" algn="just">
              <a:lnSpc>
                <a:spcPct val="115000"/>
              </a:lnSpc>
              <a:spcAft>
                <a:spcPts val="800"/>
              </a:spcAft>
              <a:buFont typeface="Arial" panose="020B0604020202020204" pitchFamily="34" charset="0"/>
              <a:buChar char="•"/>
            </a:pP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Asignar responsables a las tareas.</a:t>
            </a:r>
          </a:p>
          <a:p>
            <a:pPr marL="285750" indent="-285750" algn="just">
              <a:lnSpc>
                <a:spcPct val="115000"/>
              </a:lnSpc>
              <a:spcAft>
                <a:spcPts val="800"/>
              </a:spcAft>
              <a:buFont typeface="Arial" panose="020B0604020202020204" pitchFamily="34" charset="0"/>
              <a:buChar char="•"/>
            </a:pP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Registrar avances de las actividades.</a:t>
            </a:r>
          </a:p>
          <a:p>
            <a:pPr marL="285750" indent="-285750" algn="just">
              <a:lnSpc>
                <a:spcPct val="115000"/>
              </a:lnSpc>
              <a:spcAft>
                <a:spcPts val="800"/>
              </a:spcAft>
              <a:buFont typeface="Arial" panose="020B0604020202020204" pitchFamily="34" charset="0"/>
              <a:buChar char="•"/>
            </a:pP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Visualizar el progreso mediante diagramas de Gantt.</a:t>
            </a:r>
          </a:p>
          <a:p>
            <a:pPr marL="285750" indent="-285750" algn="just">
              <a:lnSpc>
                <a:spcPct val="115000"/>
              </a:lnSpc>
              <a:spcAft>
                <a:spcPts val="800"/>
              </a:spcAft>
              <a:buFont typeface="Arial" panose="020B0604020202020204" pitchFamily="34" charset="0"/>
              <a:buChar char="•"/>
            </a:pP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Generar reportes de avance del proyecto mediante diagramas de Gantt.</a:t>
            </a:r>
          </a:p>
          <a:p>
            <a:pPr algn="just">
              <a:lnSpc>
                <a:spcPct val="115000"/>
              </a:lnSpc>
              <a:spcAft>
                <a:spcPts val="800"/>
              </a:spcAft>
              <a:buNone/>
            </a:pP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Este módulo se encarga exclusivamente del seguimiento del avance del proyecto.</a:t>
            </a:r>
          </a:p>
          <a:p>
            <a:pPr algn="just">
              <a:lnSpc>
                <a:spcPct val="115000"/>
              </a:lnSpc>
              <a:spcAft>
                <a:spcPts val="800"/>
              </a:spcAft>
              <a:buNone/>
            </a:pPr>
            <a:r>
              <a:rPr lang="es-ES" kern="0" dirty="0">
                <a:effectLst/>
                <a:latin typeface="Times New Roman" panose="02020603050405020304" pitchFamily="18" charset="0"/>
                <a:ea typeface="Times New Roman" panose="02020603050405020304" pitchFamily="18" charset="0"/>
                <a:cs typeface="Times New Roman" panose="02020603050405020304" pitchFamily="18" charset="0"/>
              </a:rPr>
              <a:t>No gestiona la información general del proyecto ni la asignación base de clientes o personal.</a:t>
            </a:r>
            <a:endParaRPr lang="es-CO"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801719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Interfaz de usuario gráfica&#10;&#10;Descripción generada automáticamente">
            <a:extLst>
              <a:ext uri="{FF2B5EF4-FFF2-40B4-BE49-F238E27FC236}">
                <a16:creationId xmlns:a16="http://schemas.microsoft.com/office/drawing/2014/main" id="{A01EB75E-8874-42DD-11A3-2D5CA1D238B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7622032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3903</TotalTime>
  <Words>1562</Words>
  <Application>Microsoft Office PowerPoint</Application>
  <PresentationFormat>Panorámica</PresentationFormat>
  <Paragraphs>85</Paragraphs>
  <Slides>12</Slides>
  <Notes>3</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12</vt:i4>
      </vt:variant>
    </vt:vector>
  </HeadingPairs>
  <TitlesOfParts>
    <vt:vector size="21" baseType="lpstr">
      <vt:lpstr>Aptos</vt:lpstr>
      <vt:lpstr>Arial</vt:lpstr>
      <vt:lpstr>Calibri</vt:lpstr>
      <vt:lpstr>Calibri Light</vt:lpstr>
      <vt:lpstr>Times New Roman</vt:lpstr>
      <vt:lpstr>Work Sans</vt:lpstr>
      <vt:lpstr>Work Sans Light</vt:lpstr>
      <vt:lpstr>Work Sans Medium</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ALCANCE</vt:lpstr>
      <vt:lpstr>MÓDULOS DEL SISTEMA (1 Y 2)</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Stiven Alvarez</cp:lastModifiedBy>
  <cp:revision>41</cp:revision>
  <dcterms:created xsi:type="dcterms:W3CDTF">2020-10-01T23:51:28Z</dcterms:created>
  <dcterms:modified xsi:type="dcterms:W3CDTF">2026-04-10T14:11:51Z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