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468" r:id="rId2"/>
    <p:sldId id="501" r:id="rId3"/>
    <p:sldId id="507" r:id="rId4"/>
    <p:sldId id="506" r:id="rId5"/>
    <p:sldId id="498" r:id="rId6"/>
    <p:sldId id="499" r:id="rId7"/>
    <p:sldId id="508" r:id="rId8"/>
    <p:sldId id="503" r:id="rId9"/>
    <p:sldId id="502" r:id="rId10"/>
    <p:sldId id="504" r:id="rId11"/>
    <p:sldId id="505" r:id="rId12"/>
    <p:sldId id="264"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39A9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04"/>
    <p:restoredTop sz="96247" autoAdjust="0"/>
  </p:normalViewPr>
  <p:slideViewPr>
    <p:cSldViewPr snapToGrid="0">
      <p:cViewPr varScale="1">
        <p:scale>
          <a:sx n="111" d="100"/>
          <a:sy n="111" d="100"/>
        </p:scale>
        <p:origin x="462"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iven Alvarez" userId="3852d42ef867fb61" providerId="LiveId" clId="{5B664F74-F520-47FE-A0EC-E9C8480C519B}"/>
    <pc:docChg chg="modSld sldOrd">
      <pc:chgData name="Stiven Alvarez" userId="3852d42ef867fb61" providerId="LiveId" clId="{5B664F74-F520-47FE-A0EC-E9C8480C519B}" dt="2026-04-10T00:47:18.400" v="7"/>
      <pc:docMkLst>
        <pc:docMk/>
      </pc:docMkLst>
      <pc:sldChg chg="modSp mod">
        <pc:chgData name="Stiven Alvarez" userId="3852d42ef867fb61" providerId="LiveId" clId="{5B664F74-F520-47FE-A0EC-E9C8480C519B}" dt="2026-04-10T00:45:26.071" v="5" actId="20577"/>
        <pc:sldMkLst>
          <pc:docMk/>
          <pc:sldMk cId="2099732435" sldId="498"/>
        </pc:sldMkLst>
        <pc:spChg chg="mod">
          <ac:chgData name="Stiven Alvarez" userId="3852d42ef867fb61" providerId="LiveId" clId="{5B664F74-F520-47FE-A0EC-E9C8480C519B}" dt="2026-04-10T00:45:26.071" v="5" actId="20577"/>
          <ac:spMkLst>
            <pc:docMk/>
            <pc:sldMk cId="2099732435" sldId="498"/>
            <ac:spMk id="7" creationId="{9896E8B4-453C-7E26-D038-59933D4B744F}"/>
          </ac:spMkLst>
        </pc:spChg>
      </pc:sldChg>
      <pc:sldChg chg="ord">
        <pc:chgData name="Stiven Alvarez" userId="3852d42ef867fb61" providerId="LiveId" clId="{5B664F74-F520-47FE-A0EC-E9C8480C519B}" dt="2026-04-10T00:47:18.400" v="7"/>
        <pc:sldMkLst>
          <pc:docMk/>
          <pc:sldMk cId="685387458" sldId="499"/>
        </pc:sldMkLst>
      </pc:sldChg>
      <pc:sldChg chg="modSp mod">
        <pc:chgData name="Stiven Alvarez" userId="3852d42ef867fb61" providerId="LiveId" clId="{5B664F74-F520-47FE-A0EC-E9C8480C519B}" dt="2026-04-09T23:56:57.397" v="4" actId="255"/>
        <pc:sldMkLst>
          <pc:docMk/>
          <pc:sldMk cId="2675829308" sldId="503"/>
        </pc:sldMkLst>
        <pc:spChg chg="mod">
          <ac:chgData name="Stiven Alvarez" userId="3852d42ef867fb61" providerId="LiveId" clId="{5B664F74-F520-47FE-A0EC-E9C8480C519B}" dt="2026-04-09T23:56:57.397" v="4" actId="255"/>
          <ac:spMkLst>
            <pc:docMk/>
            <pc:sldMk cId="2675829308" sldId="503"/>
            <ac:spMk id="5" creationId="{F1BA9FFE-C826-B1B2-109D-38BB7FBB311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26/06/2026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26/06/2026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3608520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253927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5968F-984F-8BF4-4FF0-2432A9923EB8}"/>
              </a:ext>
            </a:extLst>
          </p:cNvPr>
          <p:cNvPicPr>
            <a:picLocks noChangeAspect="1"/>
          </p:cNvPicPr>
          <p:nvPr userDrawn="1"/>
        </p:nvPicPr>
        <p:blipFill>
          <a:blip r:embed="rId2"/>
          <a:stretch>
            <a:fillRect/>
          </a:stretch>
        </p:blipFill>
        <p:spPr>
          <a:xfrm>
            <a:off x="11027833" y="317431"/>
            <a:ext cx="811391" cy="790587"/>
          </a:xfrm>
          <a:prstGeom prst="rect">
            <a:avLst/>
          </a:prstGeom>
        </p:spPr>
      </p:pic>
    </p:spTree>
    <p:extLst>
      <p:ext uri="{BB962C8B-B14F-4D97-AF65-F5344CB8AC3E}">
        <p14:creationId xmlns:p14="http://schemas.microsoft.com/office/powerpoint/2010/main" val="324682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10;&#10;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26/06/2026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26/06/2026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59" r:id="rId12"/>
    <p:sldLayoutId id="2147483663" r:id="rId13"/>
    <p:sldLayoutId id="2147483675"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995422" y="2551837"/>
            <a:ext cx="6453678" cy="2400657"/>
          </a:xfrm>
          <a:prstGeom prst="rect">
            <a:avLst/>
          </a:prstGeom>
          <a:noFill/>
        </p:spPr>
        <p:txBody>
          <a:bodyPr wrap="square" rtlCol="0">
            <a:spAutoFit/>
          </a:bodyPr>
          <a:lstStyle/>
          <a:p>
            <a:r>
              <a:rPr lang="es-CO" sz="3200" dirty="0">
                <a:latin typeface="Times New Roman" panose="02020603050405020304" pitchFamily="18" charset="0"/>
                <a:cs typeface="Times New Roman" panose="02020603050405020304" pitchFamily="18" charset="0"/>
              </a:rPr>
              <a:t>Software de Documentación y Seguimiento de Proyectos (SDSP) de Soluciones N Ingeniería S.A.S</a:t>
            </a:r>
          </a:p>
          <a:p>
            <a:endParaRPr lang="es-ES" sz="5400" b="1" dirty="0">
              <a:solidFill>
                <a:schemeClr val="tx1">
                  <a:lumMod val="75000"/>
                  <a:lumOff val="25000"/>
                </a:schemeClr>
              </a:solidFill>
              <a:latin typeface="Work Sans" pitchFamily="2" charset="77"/>
            </a:endParaRPr>
          </a:p>
        </p:txBody>
      </p:sp>
      <p:sp>
        <p:nvSpPr>
          <p:cNvPr id="3" name="CuadroTexto 2">
            <a:extLst>
              <a:ext uri="{FF2B5EF4-FFF2-40B4-BE49-F238E27FC236}">
                <a16:creationId xmlns:a16="http://schemas.microsoft.com/office/drawing/2014/main" id="{26C05A2B-6507-2EF0-F494-33970E913DEF}"/>
              </a:ext>
            </a:extLst>
          </p:cNvPr>
          <p:cNvSpPr txBox="1"/>
          <p:nvPr/>
        </p:nvSpPr>
        <p:spPr>
          <a:xfrm>
            <a:off x="7693355" y="2828835"/>
            <a:ext cx="4151966" cy="1200329"/>
          </a:xfrm>
          <a:prstGeom prst="rect">
            <a:avLst/>
          </a:prstGeom>
          <a:noFill/>
        </p:spPr>
        <p:txBody>
          <a:bodyPr wrap="square" rtlCol="0">
            <a:spAutoFit/>
          </a:bodyPr>
          <a:lstStyle/>
          <a:p>
            <a:r>
              <a:rPr lang="es-CO" dirty="0">
                <a:latin typeface="Times New Roman" panose="02020603050405020304" pitchFamily="18" charset="0"/>
                <a:cs typeface="Times New Roman" panose="02020603050405020304" pitchFamily="18" charset="0"/>
              </a:rPr>
              <a:t>• Alvarez Hernández Estiven David </a:t>
            </a:r>
          </a:p>
          <a:p>
            <a:r>
              <a:rPr lang="es-CO" dirty="0">
                <a:latin typeface="Times New Roman" panose="02020603050405020304" pitchFamily="18" charset="0"/>
                <a:cs typeface="Times New Roman" panose="02020603050405020304" pitchFamily="18" charset="0"/>
              </a:rPr>
              <a:t>• Diaz Navas Juan Diego</a:t>
            </a:r>
          </a:p>
          <a:p>
            <a:r>
              <a:rPr lang="es-CO" dirty="0">
                <a:latin typeface="Times New Roman" panose="02020603050405020304" pitchFamily="18" charset="0"/>
                <a:cs typeface="Times New Roman" panose="02020603050405020304" pitchFamily="18" charset="0"/>
              </a:rPr>
              <a:t>• Martínez Aponte Jhohan Camilo</a:t>
            </a:r>
          </a:p>
          <a:p>
            <a:r>
              <a:rPr lang="es-CO" dirty="0">
                <a:latin typeface="Times New Roman" panose="02020603050405020304" pitchFamily="18" charset="0"/>
                <a:cs typeface="Times New Roman" panose="02020603050405020304" pitchFamily="18" charset="0"/>
              </a:rPr>
              <a:t>• Vega Oyola José Fernando </a:t>
            </a: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DB06B20-1C84-ECF4-AD59-07DB085A0BAE}"/>
              </a:ext>
            </a:extLst>
          </p:cNvPr>
          <p:cNvPicPr>
            <a:picLocks noChangeAspect="1"/>
          </p:cNvPicPr>
          <p:nvPr/>
        </p:nvPicPr>
        <p:blipFill>
          <a:blip r:embed="rId3"/>
          <a:stretch>
            <a:fillRect/>
          </a:stretch>
        </p:blipFill>
        <p:spPr>
          <a:xfrm>
            <a:off x="456237" y="313290"/>
            <a:ext cx="10387168" cy="1009650"/>
          </a:xfrm>
          <a:prstGeom prst="rect">
            <a:avLst/>
          </a:prstGeom>
        </p:spPr>
      </p:pic>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tx1">
                    <a:lumMod val="95000"/>
                    <a:lumOff val="5000"/>
                  </a:schemeClr>
                </a:solidFill>
                <a:latin typeface="Times New Roman" panose="02020603050405020304" pitchFamily="18" charset="0"/>
                <a:cs typeface="Times New Roman" panose="02020603050405020304" pitchFamily="18" charset="0"/>
              </a:rPr>
              <a:t>Planteamiento</a:t>
            </a:r>
          </a:p>
        </p:txBody>
      </p:sp>
      <p:sp>
        <p:nvSpPr>
          <p:cNvPr id="3" name="CuadroTexto 2">
            <a:extLst>
              <a:ext uri="{FF2B5EF4-FFF2-40B4-BE49-F238E27FC236}">
                <a16:creationId xmlns:a16="http://schemas.microsoft.com/office/drawing/2014/main" id="{2FE731A4-74BA-6796-AAC4-DEDD00961D2D}"/>
              </a:ext>
            </a:extLst>
          </p:cNvPr>
          <p:cNvSpPr txBox="1"/>
          <p:nvPr/>
        </p:nvSpPr>
        <p:spPr>
          <a:xfrm>
            <a:off x="690465" y="1511559"/>
            <a:ext cx="10786188" cy="4460033"/>
          </a:xfrm>
          <a:prstGeom prst="rect">
            <a:avLst/>
          </a:prstGeom>
          <a:noFill/>
        </p:spPr>
        <p:txBody>
          <a:bodyPr wrap="square" rtlCol="0">
            <a:spAutoFit/>
          </a:bodyPr>
          <a:lstStyle/>
          <a:p>
            <a:endParaRPr lang="es-CO"/>
          </a:p>
        </p:txBody>
      </p:sp>
      <p:sp>
        <p:nvSpPr>
          <p:cNvPr id="4" name="CuadroTexto 3">
            <a:extLst>
              <a:ext uri="{FF2B5EF4-FFF2-40B4-BE49-F238E27FC236}">
                <a16:creationId xmlns:a16="http://schemas.microsoft.com/office/drawing/2014/main" id="{AD735296-A20F-5B6B-6A94-1C2B25219AD3}"/>
              </a:ext>
            </a:extLst>
          </p:cNvPr>
          <p:cNvSpPr txBox="1"/>
          <p:nvPr/>
        </p:nvSpPr>
        <p:spPr>
          <a:xfrm>
            <a:off x="595579" y="1724275"/>
            <a:ext cx="10236914" cy="4247317"/>
          </a:xfrm>
          <a:prstGeom prst="rect">
            <a:avLst/>
          </a:prstGeom>
          <a:noFill/>
        </p:spPr>
        <p:txBody>
          <a:bodyPr wrap="square" rtlCol="0">
            <a:spAutoFit/>
          </a:bodyPr>
          <a:lstStyle/>
          <a:p>
            <a:r>
              <a:rPr lang="es-ES" dirty="0">
                <a:latin typeface="Times New Roman" panose="02020603050405020304" pitchFamily="18" charset="0"/>
                <a:cs typeface="Times New Roman" panose="02020603050405020304" pitchFamily="18" charset="0"/>
              </a:rPr>
              <a:t>La empresa Soluciones N Ingeniería S.A.S es una empresa dedicada a la prestación de servicios en mantenimiento de obra civil, infraestructura y mantenimiento electromecánico, incluyendo actividades como instalaciones eléctricas, mantenimiento de redes hidráulicas, reparaciones locativas, impermeabilización, y mantenimiento de sistemas de bombeo de agua, entre otros .</a:t>
            </a:r>
          </a:p>
          <a:p>
            <a:endParaRPr lang="es-ES" dirty="0">
              <a:latin typeface="Times New Roman" panose="02020603050405020304" pitchFamily="18" charset="0"/>
              <a:cs typeface="Times New Roman" panose="02020603050405020304" pitchFamily="18" charset="0"/>
            </a:endParaRPr>
          </a:p>
          <a:p>
            <a:r>
              <a:rPr lang="es-ES" dirty="0">
                <a:latin typeface="Times New Roman" panose="02020603050405020304" pitchFamily="18" charset="0"/>
                <a:cs typeface="Times New Roman" panose="02020603050405020304" pitchFamily="18" charset="0"/>
              </a:rPr>
              <a:t>Inicialmente, la empresa fue creada para la ejecución de trabajos pequeños y servicios técnicos básicos, lo que permitió que sus procesos se manejaran de manera informal y manual sin generar mayores inconvenientes. Sin embargo, con el paso del tiempo, la empresa ha tenido un crecimiento significativo, ampliando su portafolio de servicios y aumentando la cantidad de proyectos ejecutados de forma simultánea.</a:t>
            </a:r>
          </a:p>
          <a:p>
            <a:endParaRPr lang="es-ES" dirty="0">
              <a:latin typeface="Times New Roman" panose="02020603050405020304" pitchFamily="18" charset="0"/>
              <a:cs typeface="Times New Roman" panose="02020603050405020304" pitchFamily="18" charset="0"/>
            </a:endParaRPr>
          </a:p>
          <a:p>
            <a:r>
              <a:rPr lang="es-ES" dirty="0">
                <a:latin typeface="Times New Roman" panose="02020603050405020304" pitchFamily="18" charset="0"/>
                <a:cs typeface="Times New Roman" panose="02020603050405020304" pitchFamily="18" charset="0"/>
              </a:rPr>
              <a:t>Este crecimiento no fue acompañado por la implementación de herramientas tecnológicas adecuadas, por lo que actualmente la gestión de la información continúa realizándose mediante herramientas básicas como archivos de Excel, documentos de Word, registros físicos, correos electrónicos y grupos de WhatsApp . Esto ha generado una serie de problemáticas dentro de la organización.</a:t>
            </a:r>
          </a:p>
          <a:p>
            <a:endParaRPr lang="es-ES" dirty="0"/>
          </a:p>
        </p:txBody>
      </p:sp>
    </p:spTree>
    <p:extLst>
      <p:ext uri="{BB962C8B-B14F-4D97-AF65-F5344CB8AC3E}">
        <p14:creationId xmlns:p14="http://schemas.microsoft.com/office/powerpoint/2010/main" val="1500403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2ABB596E-AE4C-FA38-F88A-361BF634615D}"/>
              </a:ext>
            </a:extLst>
          </p:cNvPr>
          <p:cNvSpPr>
            <a:spLocks noChangeArrowheads="1"/>
          </p:cNvSpPr>
          <p:nvPr/>
        </p:nvSpPr>
        <p:spPr bwMode="auto">
          <a:xfrm>
            <a:off x="370114" y="1701615"/>
            <a:ext cx="906718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s-CO" dirty="0">
                <a:latin typeface="Times New Roman" panose="02020603050405020304" pitchFamily="18" charset="0"/>
                <a:cs typeface="Times New Roman" panose="02020603050405020304" pitchFamily="18" charset="0"/>
              </a:rPr>
              <a:t>La información no se encuentra centralizada, sino dispersa en múltiples medios, lo que dificulta su acceso, consulta y actualización oportuna.</a:t>
            </a:r>
          </a:p>
          <a:p>
            <a:pPr marL="285750" lvl="0" indent="-285750" eaLnBrk="0" fontAlgn="base" hangingPunct="0">
              <a:spcBef>
                <a:spcPct val="0"/>
              </a:spcBef>
              <a:spcAft>
                <a:spcPct val="0"/>
              </a:spcAft>
              <a:buFont typeface="Arial" panose="020B0604020202020204" pitchFamily="34" charset="0"/>
              <a:buChar char="•"/>
            </a:pPr>
            <a:r>
              <a:rPr kumimoji="0" lang="es-CO" altLang="es-CO"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 seguimiento de los proyectos se realiza de manera manual, dependiendo de reportes de los encargados de obra, los cuales no siempre se entregan a tiempo ni se registran adecuadamente.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Existen falencias en el registro de los materiales utilizados en cada obra, ya que no se documenta de manera organizada su uso, lo que genera pérdida de información y dificulta la trazabilidad de los recursos empleados.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 asignación del personal se realiza de manera informal, sin un sistema estructurado que permita controlar su participación en los proyectos.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existe un registro formal de incidencias o novedades en obra, lo que impide contar con un historial de los proyectos ejecutados.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 comunicación interna se realiza principalmente por medio de grupos de WhatsApp, generando desorden en la información y dificultando su seguimiento. </a:t>
            </a:r>
          </a:p>
        </p:txBody>
      </p:sp>
      <p:sp>
        <p:nvSpPr>
          <p:cNvPr id="3" name="CuadroTexto 2">
            <a:extLst>
              <a:ext uri="{FF2B5EF4-FFF2-40B4-BE49-F238E27FC236}">
                <a16:creationId xmlns:a16="http://schemas.microsoft.com/office/drawing/2014/main" id="{866D3983-17A8-1F64-25A9-697D4550904B}"/>
              </a:ext>
            </a:extLst>
          </p:cNvPr>
          <p:cNvSpPr txBox="1"/>
          <p:nvPr/>
        </p:nvSpPr>
        <p:spPr>
          <a:xfrm>
            <a:off x="370114" y="431320"/>
            <a:ext cx="6031144" cy="769441"/>
          </a:xfrm>
          <a:prstGeom prst="rect">
            <a:avLst/>
          </a:prstGeom>
          <a:noFill/>
        </p:spPr>
        <p:txBody>
          <a:bodyPr wrap="square" rtlCol="0">
            <a:spAutoFit/>
          </a:bodyPr>
          <a:lstStyle/>
          <a:p>
            <a:r>
              <a:rPr lang="es-CO" sz="4400" dirty="0">
                <a:latin typeface="Times New Roman" panose="02020603050405020304" pitchFamily="18" charset="0"/>
                <a:cs typeface="Times New Roman" panose="02020603050405020304" pitchFamily="18" charset="0"/>
              </a:rPr>
              <a:t>Problemática</a:t>
            </a:r>
            <a:r>
              <a:rPr lang="es-CO" dirty="0">
                <a:latin typeface="Times New Roman" panose="02020603050405020304" pitchFamily="18" charset="0"/>
                <a:cs typeface="Times New Roman" panose="02020603050405020304" pitchFamily="18" charset="0"/>
              </a:rPr>
              <a:t>  </a:t>
            </a:r>
            <a:r>
              <a:rPr lang="es-CO" sz="4400" dirty="0">
                <a:latin typeface="Times New Roman" panose="02020603050405020304" pitchFamily="18" charset="0"/>
                <a:cs typeface="Times New Roman" panose="02020603050405020304" pitchFamily="18" charset="0"/>
              </a:rPr>
              <a:t>Identificada</a:t>
            </a:r>
          </a:p>
        </p:txBody>
      </p:sp>
    </p:spTree>
    <p:extLst>
      <p:ext uri="{BB962C8B-B14F-4D97-AF65-F5344CB8AC3E}">
        <p14:creationId xmlns:p14="http://schemas.microsoft.com/office/powerpoint/2010/main" val="210835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8369AB9-18A4-3283-2C83-2881B57EA237}"/>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9DE26BA6-2701-7E0B-4744-0B89F9C3682B}"/>
              </a:ext>
            </a:extLst>
          </p:cNvPr>
          <p:cNvSpPr txBox="1">
            <a:spLocks/>
          </p:cNvSpPr>
          <p:nvPr/>
        </p:nvSpPr>
        <p:spPr>
          <a:xfrm>
            <a:off x="2535625" y="1294688"/>
            <a:ext cx="7120749"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Work Sans Medium" pitchFamily="2" charset="77"/>
              </a:rPr>
              <a:t>PREGUNTA PROBLEMA</a:t>
            </a:r>
          </a:p>
        </p:txBody>
      </p:sp>
      <p:sp>
        <p:nvSpPr>
          <p:cNvPr id="2" name="CuadroTexto 1">
            <a:extLst>
              <a:ext uri="{FF2B5EF4-FFF2-40B4-BE49-F238E27FC236}">
                <a16:creationId xmlns:a16="http://schemas.microsoft.com/office/drawing/2014/main" id="{B9BBD1FC-F1A7-5219-7BE1-F65BA9389158}"/>
              </a:ext>
            </a:extLst>
          </p:cNvPr>
          <p:cNvSpPr txBox="1"/>
          <p:nvPr/>
        </p:nvSpPr>
        <p:spPr>
          <a:xfrm>
            <a:off x="556761" y="2583700"/>
            <a:ext cx="10627567" cy="2062103"/>
          </a:xfrm>
          <a:prstGeom prst="rect">
            <a:avLst/>
          </a:prstGeom>
          <a:noFill/>
        </p:spPr>
        <p:txBody>
          <a:bodyPr wrap="square" rtlCol="0">
            <a:spAutoFit/>
          </a:bodyPr>
          <a:lstStyle/>
          <a:p>
            <a:pPr algn="ctr"/>
            <a:r>
              <a:rPr lang="es-ES" sz="3200" dirty="0">
                <a:solidFill>
                  <a:schemeClr val="bg1"/>
                </a:solidFill>
                <a:latin typeface="Times New Roman" panose="02020603050405020304" pitchFamily="18" charset="0"/>
                <a:cs typeface="Times New Roman" panose="02020603050405020304" pitchFamily="18" charset="0"/>
              </a:rPr>
              <a:t>¿Cómo desarrollar un software que permita centralizar y gestionar la información de los proyectos de la empresa (Obras) Soluciones N Ingeniería S.A.S para mejorar su seguimiento y control?</a:t>
            </a:r>
            <a:endParaRPr lang="es-CO"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05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4A65A50E-73B6-BE21-518A-D1D9A124E398}"/>
              </a:ext>
            </a:extLst>
          </p:cNvPr>
          <p:cNvSpPr/>
          <p:nvPr/>
        </p:nvSpPr>
        <p:spPr>
          <a:xfrm>
            <a:off x="772887" y="943926"/>
            <a:ext cx="9363152" cy="1644000"/>
          </a:xfrm>
          <a:prstGeom prst="roundRect">
            <a:avLst/>
          </a:prstGeom>
          <a:solidFill>
            <a:srgbClr val="38AA00"/>
          </a:solidFill>
          <a:ln>
            <a:solidFill>
              <a:srgbClr val="38AA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CO"/>
          </a:p>
        </p:txBody>
      </p:sp>
      <p:sp>
        <p:nvSpPr>
          <p:cNvPr id="3" name="CuadroTexto 2">
            <a:extLst>
              <a:ext uri="{FF2B5EF4-FFF2-40B4-BE49-F238E27FC236}">
                <a16:creationId xmlns:a16="http://schemas.microsoft.com/office/drawing/2014/main" id="{66D04A5A-19A9-0ACE-6D0F-5E02EDC9D1DE}"/>
              </a:ext>
            </a:extLst>
          </p:cNvPr>
          <p:cNvSpPr txBox="1"/>
          <p:nvPr/>
        </p:nvSpPr>
        <p:spPr>
          <a:xfrm>
            <a:off x="828286" y="1121003"/>
            <a:ext cx="9135835" cy="1200329"/>
          </a:xfrm>
          <a:prstGeom prst="rect">
            <a:avLst/>
          </a:prstGeom>
          <a:noFill/>
        </p:spPr>
        <p:txBody>
          <a:bodyPr wrap="none" rtlCol="0">
            <a:spAutoFit/>
          </a:bodyPr>
          <a:lstStyle/>
          <a:p>
            <a:pPr algn="ctr"/>
            <a:r>
              <a:rPr lang="es-CO" sz="7200" dirty="0">
                <a:latin typeface="Times New Roman" panose="02020603050405020304" pitchFamily="18" charset="0"/>
                <a:cs typeface="Times New Roman" panose="02020603050405020304" pitchFamily="18" charset="0"/>
              </a:rPr>
              <a:t>OBJETIVO GENERAL</a:t>
            </a:r>
          </a:p>
        </p:txBody>
      </p:sp>
      <p:cxnSp>
        <p:nvCxnSpPr>
          <p:cNvPr id="6" name="Conector recto 5">
            <a:extLst>
              <a:ext uri="{FF2B5EF4-FFF2-40B4-BE49-F238E27FC236}">
                <a16:creationId xmlns:a16="http://schemas.microsoft.com/office/drawing/2014/main" id="{12E6F1CF-C64D-CB82-1478-686F9F9BAF5F}"/>
              </a:ext>
            </a:extLst>
          </p:cNvPr>
          <p:cNvCxnSpPr>
            <a:cxnSpLocks/>
          </p:cNvCxnSpPr>
          <p:nvPr/>
        </p:nvCxnSpPr>
        <p:spPr>
          <a:xfrm>
            <a:off x="4630740" y="2230252"/>
            <a:ext cx="1736203" cy="0"/>
          </a:xfrm>
          <a:prstGeom prst="line">
            <a:avLst/>
          </a:prstGeom>
          <a:ln>
            <a:solidFill>
              <a:srgbClr val="38AA00"/>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9896E8B4-453C-7E26-D038-59933D4B744F}"/>
              </a:ext>
            </a:extLst>
          </p:cNvPr>
          <p:cNvSpPr txBox="1"/>
          <p:nvPr/>
        </p:nvSpPr>
        <p:spPr>
          <a:xfrm>
            <a:off x="898069" y="3166973"/>
            <a:ext cx="9237969" cy="1631216"/>
          </a:xfrm>
          <a:prstGeom prst="rect">
            <a:avLst/>
          </a:prstGeom>
          <a:noFill/>
        </p:spPr>
        <p:txBody>
          <a:bodyPr wrap="square" rtlCol="0">
            <a:spAutoFit/>
          </a:bodyPr>
          <a:lstStyle/>
          <a:p>
            <a:r>
              <a:rPr lang="es-CO" sz="2000" dirty="0">
                <a:latin typeface="Times New Roman" panose="02020603050405020304" pitchFamily="18" charset="0"/>
                <a:cs typeface="Times New Roman" panose="02020603050405020304" pitchFamily="18" charset="0"/>
              </a:rPr>
              <a:t>Desarrollar un software web y móvil para la empresa Soluciones N Ingeniería S.A.S. que centralice el registro, documentación y seguimiento de los trabajos de mantenimiento de infraestructura y servicios electromecánicos que realiza, abarcando desde el registro inicial de cada obra hasta la generación de reportes de avance, con el fin de mejorar la organización, trazabilidad y control de sus operaciones.</a:t>
            </a:r>
          </a:p>
        </p:txBody>
      </p:sp>
    </p:spTree>
    <p:extLst>
      <p:ext uri="{BB962C8B-B14F-4D97-AF65-F5344CB8AC3E}">
        <p14:creationId xmlns:p14="http://schemas.microsoft.com/office/powerpoint/2010/main" val="209973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AA1C5EDE-E47E-1E67-E614-DCAB2FC32DA6}"/>
              </a:ext>
            </a:extLst>
          </p:cNvPr>
          <p:cNvSpPr/>
          <p:nvPr/>
        </p:nvSpPr>
        <p:spPr>
          <a:xfrm>
            <a:off x="227517" y="272501"/>
            <a:ext cx="10463929" cy="1004836"/>
          </a:xfrm>
          <a:prstGeom prst="roundRect">
            <a:avLst/>
          </a:prstGeom>
          <a:solidFill>
            <a:srgbClr val="38AA00"/>
          </a:solidFill>
          <a:ln>
            <a:solidFill>
              <a:srgbClr val="38AA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CO"/>
          </a:p>
        </p:txBody>
      </p:sp>
      <p:sp>
        <p:nvSpPr>
          <p:cNvPr id="4" name="Título 1">
            <a:extLst>
              <a:ext uri="{FF2B5EF4-FFF2-40B4-BE49-F238E27FC236}">
                <a16:creationId xmlns:a16="http://schemas.microsoft.com/office/drawing/2014/main" id="{EE37A3CD-1BAC-6175-4755-9AC66A46B6FF}"/>
              </a:ext>
            </a:extLst>
          </p:cNvPr>
          <p:cNvSpPr txBox="1">
            <a:spLocks/>
          </p:cNvSpPr>
          <p:nvPr/>
        </p:nvSpPr>
        <p:spPr>
          <a:xfrm>
            <a:off x="227517" y="408261"/>
            <a:ext cx="5868483" cy="71343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latin typeface="Times New Roman" panose="02020603050405020304" pitchFamily="18" charset="0"/>
                <a:cs typeface="Times New Roman" panose="02020603050405020304" pitchFamily="18" charset="0"/>
              </a:rPr>
              <a:t>Objetivos específicos</a:t>
            </a:r>
          </a:p>
          <a:p>
            <a:endParaRPr lang="es-CO" dirty="0">
              <a:solidFill>
                <a:srgbClr val="38AA00"/>
              </a:solidFill>
              <a:latin typeface="Work Sans Light" pitchFamily="2" charset="77"/>
            </a:endParaRPr>
          </a:p>
        </p:txBody>
      </p:sp>
      <p:sp>
        <p:nvSpPr>
          <p:cNvPr id="5" name="Rectangle 2">
            <a:extLst>
              <a:ext uri="{FF2B5EF4-FFF2-40B4-BE49-F238E27FC236}">
                <a16:creationId xmlns:a16="http://schemas.microsoft.com/office/drawing/2014/main" id="{6120D380-6B7E-9075-CD34-D91CC4218285}"/>
              </a:ext>
            </a:extLst>
          </p:cNvPr>
          <p:cNvSpPr>
            <a:spLocks noChangeArrowheads="1"/>
          </p:cNvSpPr>
          <p:nvPr/>
        </p:nvSpPr>
        <p:spPr bwMode="auto">
          <a:xfrm rot="10800000" flipV="1">
            <a:off x="227517" y="1558987"/>
            <a:ext cx="1046392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s-CO" sz="2000" dirty="0">
                <a:latin typeface="Times New Roman" panose="02020603050405020304" pitchFamily="18" charset="0"/>
                <a:cs typeface="Times New Roman" panose="02020603050405020304" pitchFamily="18" charset="0"/>
              </a:rPr>
              <a:t>Desarrollar un sistema de autenticación que permita el registro de cuentas, inicio de sesión mediante correo y contraseña, y la asignación de roles diferenciados (Administrador, Supervisor, Empleado) para controlar el acceso a las funcionalidades del sistema según el perfil de cada usuario.</a:t>
            </a:r>
          </a:p>
          <a:p>
            <a:pPr marL="457200" indent="-457200">
              <a:buFont typeface="+mj-lt"/>
              <a:buAutoNum type="arabicPeriod"/>
            </a:pPr>
            <a:r>
              <a:rPr lang="es-CO" sz="2000" dirty="0">
                <a:latin typeface="Times New Roman" panose="02020603050405020304" pitchFamily="18" charset="0"/>
                <a:cs typeface="Times New Roman" panose="02020603050405020304" pitchFamily="18" charset="0"/>
              </a:rPr>
              <a:t>Implementar un componente de gestión que permita registrar, actualizar y consultar la información de los clientes y del personal asignado a cada obra, facilitando la trazabilidad de su participación en los proyectos.</a:t>
            </a:r>
          </a:p>
          <a:p>
            <a:pPr marL="457200" indent="-457200">
              <a:buFont typeface="+mj-lt"/>
              <a:buAutoNum type="arabicPeriod"/>
            </a:pPr>
            <a:r>
              <a:rPr lang="es-CO" sz="2000" dirty="0">
                <a:latin typeface="Times New Roman" panose="02020603050405020304" pitchFamily="18" charset="0"/>
                <a:cs typeface="Times New Roman" panose="02020603050405020304" pitchFamily="18" charset="0"/>
              </a:rPr>
              <a:t>Desarrollar una herramienta central que permita registrar obras de mantenimiento de infraestructura y servicios electromecánicos, asignar clientes y responsables, actualizar el estado del proyecto y documentar imprevistos de obra que afecten su ejecución.</a:t>
            </a:r>
          </a:p>
          <a:p>
            <a:pPr marL="457200" indent="-457200">
              <a:buFont typeface="+mj-lt"/>
              <a:buAutoNum type="arabicPeriod"/>
            </a:pPr>
            <a:r>
              <a:rPr lang="es-CO" sz="2000" dirty="0">
                <a:latin typeface="Times New Roman" panose="02020603050405020304" pitchFamily="18" charset="0"/>
                <a:cs typeface="Times New Roman" panose="02020603050405020304" pitchFamily="18" charset="0"/>
              </a:rPr>
              <a:t>Implementar un control de recursos  que permita registrar el flujo de materiales en cada obra, incluyendo entradas, salidas, retornos, desechos e imprevistos relacionados con materiales, garantizando la trazabilidad de los recursos utilizados en cada proyecto.</a:t>
            </a:r>
          </a:p>
          <a:p>
            <a:pPr marL="457200" indent="-457200">
              <a:buFont typeface="+mj-lt"/>
              <a:buAutoNum type="arabicPeriod"/>
            </a:pPr>
            <a:r>
              <a:rPr lang="es-CO" sz="2000" dirty="0">
                <a:latin typeface="Times New Roman" panose="02020603050405020304" pitchFamily="18" charset="0"/>
                <a:cs typeface="Times New Roman" panose="02020603050405020304" pitchFamily="18" charset="0"/>
              </a:rPr>
              <a:t>Desarrollar un sistema de seguimiento que permita crear tareas, asignar responsables, actualizar el porcentaje de progreso y visualizar el estado de cada obra mediante diagramas de Gantt y reportes de avance.</a:t>
            </a:r>
          </a:p>
        </p:txBody>
      </p:sp>
    </p:spTree>
    <p:extLst>
      <p:ext uri="{BB962C8B-B14F-4D97-AF65-F5344CB8AC3E}">
        <p14:creationId xmlns:p14="http://schemas.microsoft.com/office/powerpoint/2010/main" val="68538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221943-F895-E10F-C95D-401218A78B6A}"/>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75798D21-A453-032E-E208-2314A63C0FDC}"/>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Times New Roman" panose="02020603050405020304" pitchFamily="18" charset="0"/>
                <a:cs typeface="Times New Roman" panose="02020603050405020304" pitchFamily="18" charset="0"/>
              </a:rPr>
              <a:t>JUSTIFICACIÓN</a:t>
            </a:r>
          </a:p>
        </p:txBody>
      </p:sp>
      <p:sp>
        <p:nvSpPr>
          <p:cNvPr id="2" name="CuadroTexto 1">
            <a:extLst>
              <a:ext uri="{FF2B5EF4-FFF2-40B4-BE49-F238E27FC236}">
                <a16:creationId xmlns:a16="http://schemas.microsoft.com/office/drawing/2014/main" id="{38E81C06-FA36-7B09-978A-92B45D20E4F6}"/>
              </a:ext>
            </a:extLst>
          </p:cNvPr>
          <p:cNvSpPr txBox="1"/>
          <p:nvPr/>
        </p:nvSpPr>
        <p:spPr>
          <a:xfrm>
            <a:off x="456236" y="1259633"/>
            <a:ext cx="10627567" cy="5232202"/>
          </a:xfrm>
          <a:prstGeom prst="rect">
            <a:avLst/>
          </a:prstGeom>
          <a:noFill/>
        </p:spPr>
        <p:txBody>
          <a:bodyPr wrap="square" rtlCol="0">
            <a:spAutoFit/>
          </a:bodyPr>
          <a:lstStyle/>
          <a:p>
            <a:r>
              <a:rPr lang="es-CO" sz="2200" dirty="0">
                <a:solidFill>
                  <a:schemeClr val="bg1"/>
                </a:solidFill>
                <a:latin typeface="Times New Roman" panose="02020603050405020304" pitchFamily="18" charset="0"/>
                <a:cs typeface="Times New Roman" panose="02020603050405020304" pitchFamily="18" charset="0"/>
              </a:rPr>
              <a:t>La</a:t>
            </a:r>
            <a:r>
              <a:rPr lang="es-ES" sz="2200" dirty="0">
                <a:solidFill>
                  <a:schemeClr val="bg1"/>
                </a:solidFill>
                <a:latin typeface="Times New Roman" panose="02020603050405020304" pitchFamily="18" charset="0"/>
                <a:cs typeface="Times New Roman" panose="02020603050405020304" pitchFamily="18" charset="0"/>
              </a:rPr>
              <a:t> adecuada gestión de la información en proyectos de construcción es fundamental para garantizar el control, seguimiento y correcta ejecución de las actividades. Cuando los datos se manejan de forma manual o dispersa en diferentes medios, se incrementa el riesgo de pérdida de información, errores en los registros y dificultades en la toma de decisiones. En la empresa Soluciones N Ingeniería S.A.S, el crecimiento organizacional y la ejecución simultánea de múltiples proyectos han evidenciado la necesidad de mejorar la gestión de la información. Actualmente, </a:t>
            </a:r>
            <a:r>
              <a:rPr lang="es-CO" sz="2000" dirty="0">
                <a:solidFill>
                  <a:schemeClr val="bg1"/>
                </a:solidFill>
                <a:latin typeface="Times New Roman" panose="02020603050405020304" pitchFamily="18" charset="0"/>
                <a:cs typeface="Times New Roman" panose="02020603050405020304" pitchFamily="18" charset="0"/>
              </a:rPr>
              <a:t>la dispersión de la información en múltiples medios genera desorganización y dificulta el acceso oportuno y confiable a los datos de cada obra.</a:t>
            </a:r>
            <a:r>
              <a:rPr lang="es-ES" sz="2000" dirty="0">
                <a:solidFill>
                  <a:schemeClr val="bg1"/>
                </a:solidFill>
                <a:latin typeface="Times New Roman" panose="02020603050405020304" pitchFamily="18" charset="0"/>
                <a:cs typeface="Times New Roman" panose="02020603050405020304" pitchFamily="18" charset="0"/>
              </a:rPr>
              <a:t> </a:t>
            </a:r>
            <a:r>
              <a:rPr lang="es-ES" sz="2200" dirty="0">
                <a:solidFill>
                  <a:schemeClr val="bg1"/>
                </a:solidFill>
                <a:latin typeface="Times New Roman" panose="02020603050405020304" pitchFamily="18" charset="0"/>
                <a:cs typeface="Times New Roman" panose="02020603050405020304" pitchFamily="18" charset="0"/>
              </a:rPr>
              <a:t>y dificulta el acceso oportuno y confiable a los datos de cada obra. Esta situación afecta el seguimiento de los proyectos, el control de las actividades ejecutadas y la disponibilidad de información histórica, lo que limita la eficiencia operativa de la empresa. Por esta razón, el desarrollo de un software permitirá centralizar la información, mejorar la organización de los proyectos, optimizar el seguimiento de las actividades y facilitar el registro y consulta de la información relacionada con las obras, contribuyendo a una mejor toma de decisiones y al fortalecimiento de los procesos internos de la empresa.</a:t>
            </a:r>
            <a:endParaRPr lang="es-CO"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954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1100-8805-626A-A57E-1B701F74BC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DE1430-2E5F-FFEA-65D8-7B4DEC79D05D}"/>
              </a:ext>
            </a:extLst>
          </p:cNvPr>
          <p:cNvSpPr>
            <a:spLocks noGrp="1"/>
          </p:cNvSpPr>
          <p:nvPr>
            <p:ph type="title"/>
          </p:nvPr>
        </p:nvSpPr>
        <p:spPr>
          <a:xfrm>
            <a:off x="456236" y="110481"/>
            <a:ext cx="10515600" cy="1325563"/>
          </a:xfrm>
        </p:spPr>
        <p:txBody>
          <a:bodyPr/>
          <a:lstStyle/>
          <a:p>
            <a:r>
              <a:rPr lang="es-CO" dirty="0">
                <a:solidFill>
                  <a:schemeClr val="bg1"/>
                </a:solidFill>
                <a:latin typeface="Times New Roman" panose="02020603050405020304" pitchFamily="18" charset="0"/>
                <a:cs typeface="Times New Roman" panose="02020603050405020304" pitchFamily="18" charset="0"/>
              </a:rPr>
              <a:t>ALCANCE</a:t>
            </a:r>
          </a:p>
        </p:txBody>
      </p:sp>
      <p:sp>
        <p:nvSpPr>
          <p:cNvPr id="5" name="CuadroTexto 4">
            <a:extLst>
              <a:ext uri="{FF2B5EF4-FFF2-40B4-BE49-F238E27FC236}">
                <a16:creationId xmlns:a16="http://schemas.microsoft.com/office/drawing/2014/main" id="{F1BA9FFE-C826-B1B2-109D-38BB7FBB3110}"/>
              </a:ext>
            </a:extLst>
          </p:cNvPr>
          <p:cNvSpPr txBox="1"/>
          <p:nvPr/>
        </p:nvSpPr>
        <p:spPr>
          <a:xfrm>
            <a:off x="344036" y="1549600"/>
            <a:ext cx="11503928" cy="5109091"/>
          </a:xfrm>
          <a:prstGeom prst="rect">
            <a:avLst/>
          </a:prstGeom>
          <a:noFill/>
        </p:spPr>
        <p:txBody>
          <a:bodyPr wrap="square" rtlCol="0">
            <a:spAutoFit/>
          </a:bodyPr>
          <a:lstStyle/>
          <a:p>
            <a:r>
              <a:rPr lang="es-CO" sz="2200" dirty="0">
                <a:latin typeface="Times New Roman" panose="02020603050405020304" pitchFamily="18" charset="0"/>
                <a:cs typeface="Times New Roman" panose="02020603050405020304" pitchFamily="18" charset="0"/>
              </a:rPr>
              <a:t>• El</a:t>
            </a:r>
            <a:r>
              <a:rPr lang="es-ES" sz="2200" dirty="0">
                <a:latin typeface="Times New Roman" panose="02020603050405020304" pitchFamily="18" charset="0"/>
                <a:cs typeface="Times New Roman" panose="02020603050405020304" pitchFamily="18" charset="0"/>
              </a:rPr>
              <a:t> proyecto consiste en el desarrollo de un software que permita a la empresa Soluciones N Ingeniería S.A.S gestionar y organizar digitalmente la información relacionada con los trabajos y servicios que realiza.</a:t>
            </a:r>
          </a:p>
          <a:p>
            <a:r>
              <a:rPr lang="es-ES" sz="2200" dirty="0">
                <a:latin typeface="Times New Roman" panose="02020603050405020304" pitchFamily="18" charset="0"/>
                <a:cs typeface="Times New Roman" panose="02020603050405020304" pitchFamily="18" charset="0"/>
              </a:rPr>
              <a:t>• El sistema permitirá registrar y consultar información de clientes, proyectos u obras, personal asignado, materiales utilizados y el avance de las actividades. Asimismo, permitirá documentar la asignación de trabajadores a los proyectos, registrar tareas, avances e incidencias, y generar reportes de seguimiento del progreso mediante diagramas de Gantt.</a:t>
            </a:r>
          </a:p>
          <a:p>
            <a:r>
              <a:rPr lang="es-ES" sz="2200" dirty="0">
                <a:latin typeface="Times New Roman" panose="02020603050405020304" pitchFamily="18" charset="0"/>
                <a:cs typeface="Times New Roman" panose="02020603050405020304" pitchFamily="18" charset="0"/>
              </a:rPr>
              <a:t>• El software estará enfocado en la organización, registro y consulta de la información generada durante la ejecución de los trabajos, incluyendo mantenimientos de infraestructura, servicios electromecánicos y reparaciones técnicas.</a:t>
            </a:r>
          </a:p>
          <a:p>
            <a:r>
              <a:rPr lang="es-ES" sz="2200" dirty="0">
                <a:latin typeface="Times New Roman" panose="02020603050405020304" pitchFamily="18" charset="0"/>
                <a:cs typeface="Times New Roman" panose="02020603050405020304" pitchFamily="18" charset="0"/>
              </a:rPr>
              <a:t>• En cuanto al manejo del personal, el sistema se limitará al registro de información básica y su relación con los proyectos, sin involucrar procesos propios de la gestión de recursos humanos. De igual forma, el registro de materiales estará orientado únicamente a documentar su uso dentro de cada obra, sin incluir funcionalidades de control de inventarios o gestión logística.</a:t>
            </a:r>
          </a:p>
          <a:p>
            <a:endParaRPr lang="es-CO" dirty="0"/>
          </a:p>
        </p:txBody>
      </p:sp>
    </p:spTree>
    <p:extLst>
      <p:ext uri="{BB962C8B-B14F-4D97-AF65-F5344CB8AC3E}">
        <p14:creationId xmlns:p14="http://schemas.microsoft.com/office/powerpoint/2010/main" val="267582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Times New Roman" panose="02020603050405020304" pitchFamily="18" charset="0"/>
                <a:cs typeface="Times New Roman" panose="02020603050405020304" pitchFamily="18" charset="0"/>
              </a:rPr>
              <a:t>MÓDULOS DEL SISTEMA (1 Y 2)</a:t>
            </a:r>
          </a:p>
        </p:txBody>
      </p:sp>
      <p:sp>
        <p:nvSpPr>
          <p:cNvPr id="6" name="CuadroTexto 5">
            <a:extLst>
              <a:ext uri="{FF2B5EF4-FFF2-40B4-BE49-F238E27FC236}">
                <a16:creationId xmlns:a16="http://schemas.microsoft.com/office/drawing/2014/main" id="{43503090-ADDF-1E29-2D51-64DB448EEDA7}"/>
              </a:ext>
            </a:extLst>
          </p:cNvPr>
          <p:cNvSpPr txBox="1"/>
          <p:nvPr/>
        </p:nvSpPr>
        <p:spPr>
          <a:xfrm>
            <a:off x="456236" y="1566673"/>
            <a:ext cx="4392093" cy="4832092"/>
          </a:xfrm>
          <a:prstGeom prst="rect">
            <a:avLst/>
          </a:prstGeom>
          <a:noFill/>
        </p:spPr>
        <p:txBody>
          <a:bodyPr wrap="square" rtlCol="0">
            <a:spAutoFit/>
          </a:bodyPr>
          <a:lstStyle/>
          <a:p>
            <a:r>
              <a:rPr lang="es-CO" sz="2200" b="1" dirty="0">
                <a:latin typeface="Times New Roman" panose="02020603050405020304" pitchFamily="18" charset="0"/>
                <a:cs typeface="Times New Roman" panose="02020603050405020304" pitchFamily="18" charset="0"/>
              </a:rPr>
              <a:t>1.</a:t>
            </a:r>
            <a:r>
              <a:rPr lang="es-ES" sz="2200" dirty="0">
                <a:latin typeface="Times New Roman" panose="02020603050405020304" pitchFamily="18" charset="0"/>
                <a:cs typeface="Times New Roman" panose="02020603050405020304" pitchFamily="18" charset="0"/>
              </a:rPr>
              <a:t>Módulo de gestión de clientes</a:t>
            </a:r>
          </a:p>
          <a:p>
            <a:r>
              <a:rPr lang="es-ES" sz="2200" dirty="0">
                <a:latin typeface="Times New Roman" panose="02020603050405020304" pitchFamily="18" charset="0"/>
                <a:cs typeface="Times New Roman" panose="02020603050405020304" pitchFamily="18" charset="0"/>
              </a:rPr>
              <a:t>Funcionalidades:</a:t>
            </a:r>
          </a:p>
          <a:p>
            <a:endParaRPr lang="es-E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s-ES" sz="2200" dirty="0">
                <a:latin typeface="Times New Roman" panose="02020603050405020304" pitchFamily="18" charset="0"/>
                <a:cs typeface="Times New Roman" panose="02020603050405020304" pitchFamily="18" charset="0"/>
              </a:rPr>
              <a:t>Registrar información de clientes.</a:t>
            </a:r>
          </a:p>
          <a:p>
            <a:pPr marL="342900" indent="-342900">
              <a:buFont typeface="Arial" panose="020B0604020202020204" pitchFamily="34" charset="0"/>
              <a:buChar char="•"/>
            </a:pPr>
            <a:r>
              <a:rPr lang="es-ES" sz="2200" dirty="0">
                <a:latin typeface="Times New Roman" panose="02020603050405020304" pitchFamily="18" charset="0"/>
                <a:cs typeface="Times New Roman" panose="02020603050405020304" pitchFamily="18" charset="0"/>
              </a:rPr>
              <a:t>Actualizar datos de clientes.</a:t>
            </a:r>
          </a:p>
          <a:p>
            <a:pPr marL="342900" indent="-342900">
              <a:buFont typeface="Arial" panose="020B0604020202020204" pitchFamily="34" charset="0"/>
              <a:buChar char="•"/>
            </a:pPr>
            <a:r>
              <a:rPr lang="es-ES" sz="2200" dirty="0">
                <a:latin typeface="Times New Roman" panose="02020603050405020304" pitchFamily="18" charset="0"/>
                <a:cs typeface="Times New Roman" panose="02020603050405020304" pitchFamily="18" charset="0"/>
              </a:rPr>
              <a:t>Consultar información de clientes.</a:t>
            </a:r>
          </a:p>
          <a:p>
            <a:pPr marL="342900" indent="-342900">
              <a:buFont typeface="Arial" panose="020B0604020202020204" pitchFamily="34" charset="0"/>
              <a:buChar char="•"/>
            </a:pPr>
            <a:r>
              <a:rPr lang="es-ES" sz="2200" dirty="0">
                <a:latin typeface="Times New Roman" panose="02020603050405020304" pitchFamily="18" charset="0"/>
                <a:cs typeface="Times New Roman" panose="02020603050405020304" pitchFamily="18" charset="0"/>
              </a:rPr>
              <a:t>Consultar historial de proyectos asociados a cada cliente.</a:t>
            </a:r>
          </a:p>
          <a:p>
            <a:endParaRPr lang="es-ES" sz="2200" dirty="0">
              <a:latin typeface="Times New Roman" panose="02020603050405020304" pitchFamily="18" charset="0"/>
              <a:cs typeface="Times New Roman" panose="02020603050405020304" pitchFamily="18" charset="0"/>
            </a:endParaRPr>
          </a:p>
          <a:p>
            <a:r>
              <a:rPr lang="es-ES" sz="2200" dirty="0">
                <a:latin typeface="Times New Roman" panose="02020603050405020304" pitchFamily="18" charset="0"/>
                <a:cs typeface="Times New Roman" panose="02020603050405020304" pitchFamily="18" charset="0"/>
              </a:rPr>
              <a:t>Este módulo se limita al registro y consulta de información de clientes. No incluye procesos comerciales, facturación, contratos ni gestión administrativa.</a:t>
            </a:r>
            <a:endParaRPr lang="es-CO" sz="2200" dirty="0">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D4FB0401-1409-A6A2-8948-35DF932271FF}"/>
              </a:ext>
            </a:extLst>
          </p:cNvPr>
          <p:cNvSpPr txBox="1"/>
          <p:nvPr/>
        </p:nvSpPr>
        <p:spPr>
          <a:xfrm>
            <a:off x="5326336" y="1563338"/>
            <a:ext cx="5560199" cy="5539978"/>
          </a:xfrm>
          <a:prstGeom prst="rect">
            <a:avLst/>
          </a:prstGeom>
          <a:noFill/>
        </p:spPr>
        <p:txBody>
          <a:bodyPr wrap="square" rtlCol="0">
            <a:spAutoFit/>
          </a:bodyPr>
          <a:lstStyle/>
          <a:p>
            <a:r>
              <a:rPr lang="es-CO" b="1" dirty="0">
                <a:latin typeface="Times New Roman" panose="02020603050405020304" pitchFamily="18" charset="0"/>
                <a:cs typeface="Times New Roman" panose="02020603050405020304" pitchFamily="18" charset="0"/>
              </a:rPr>
              <a:t>2. </a:t>
            </a:r>
            <a:r>
              <a:rPr lang="es-ES" sz="2000" dirty="0">
                <a:latin typeface="Times New Roman" panose="02020603050405020304" pitchFamily="18" charset="0"/>
                <a:cs typeface="Times New Roman" panose="02020603050405020304" pitchFamily="18" charset="0"/>
              </a:rPr>
              <a:t>Módulo de gestión de proyectos</a:t>
            </a:r>
          </a:p>
          <a:p>
            <a:r>
              <a:rPr lang="es-ES" sz="2000" dirty="0">
                <a:latin typeface="Times New Roman" panose="02020603050405020304" pitchFamily="18" charset="0"/>
                <a:cs typeface="Times New Roman" panose="02020603050405020304" pitchFamily="18" charset="0"/>
              </a:rPr>
              <a:t>Funcionalidades:</a:t>
            </a:r>
          </a:p>
          <a:p>
            <a:endParaRPr lang="es-E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Registrar proyectos u obras.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Definir fechas de inicio y finalización estimada.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Asociar clientes a los proyectos.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Asignar responsables principales del proyecto.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Actualizar el estado del proyecto (Planeación, en ejecución, finalizado).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Registrar incidencias o novedades del proyecto. </a:t>
            </a:r>
          </a:p>
          <a:p>
            <a:pPr marL="285750" indent="-285750">
              <a:buFont typeface="Arial" panose="020B0604020202020204" pitchFamily="34" charset="0"/>
              <a:buChar char="•"/>
            </a:pPr>
            <a:r>
              <a:rPr lang="es-ES" sz="2000" dirty="0">
                <a:latin typeface="Times New Roman" panose="02020603050405020304" pitchFamily="18" charset="0"/>
                <a:cs typeface="Times New Roman" panose="02020603050405020304" pitchFamily="18" charset="0"/>
              </a:rPr>
              <a:t>Consultar información general del proyecto. </a:t>
            </a:r>
          </a:p>
          <a:p>
            <a:br>
              <a:rPr lang="es-ES" sz="2000" dirty="0">
                <a:latin typeface="Times New Roman" panose="02020603050405020304" pitchFamily="18" charset="0"/>
                <a:cs typeface="Times New Roman" panose="02020603050405020304" pitchFamily="18" charset="0"/>
              </a:rPr>
            </a:br>
            <a:r>
              <a:rPr lang="es-ES" sz="2000" dirty="0">
                <a:latin typeface="Times New Roman" panose="02020603050405020304" pitchFamily="18" charset="0"/>
                <a:cs typeface="Times New Roman" panose="02020603050405020304" pitchFamily="18" charset="0"/>
              </a:rPr>
              <a:t>Este módulo gestiona únicamente la información general del proyecto.</a:t>
            </a:r>
            <a:br>
              <a:rPr lang="es-ES" sz="2000" dirty="0">
                <a:latin typeface="Times New Roman" panose="02020603050405020304" pitchFamily="18" charset="0"/>
                <a:cs typeface="Times New Roman" panose="02020603050405020304" pitchFamily="18" charset="0"/>
              </a:rPr>
            </a:br>
            <a:r>
              <a:rPr lang="es-ES" sz="2000" dirty="0">
                <a:latin typeface="Times New Roman" panose="02020603050405020304" pitchFamily="18" charset="0"/>
                <a:cs typeface="Times New Roman" panose="02020603050405020304" pitchFamily="18" charset="0"/>
              </a:rPr>
              <a:t>No incluye tareas, seguimiento detallado, reportes ni gestión de recursos.</a:t>
            </a:r>
          </a:p>
          <a:p>
            <a:pPr lvl="0"/>
            <a:endParaRPr lang="es-CO" dirty="0"/>
          </a:p>
          <a:p>
            <a:endParaRPr lang="es-CO" dirty="0"/>
          </a:p>
        </p:txBody>
      </p:sp>
    </p:spTree>
    <p:extLst>
      <p:ext uri="{BB962C8B-B14F-4D97-AF65-F5344CB8AC3E}">
        <p14:creationId xmlns:p14="http://schemas.microsoft.com/office/powerpoint/2010/main" val="2874888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44B2E50-FF5F-C99C-8BD8-8D17A7739AD8}"/>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715CF5E1-87CD-481F-FDF8-7D65B49F0267}"/>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Times New Roman" panose="02020603050405020304" pitchFamily="18" charset="0"/>
                <a:cs typeface="Times New Roman" panose="02020603050405020304" pitchFamily="18" charset="0"/>
              </a:rPr>
              <a:t>MÓDULOS DEL SISTEMA (3 Y 4)</a:t>
            </a:r>
          </a:p>
        </p:txBody>
      </p:sp>
      <p:sp>
        <p:nvSpPr>
          <p:cNvPr id="2" name="CuadroTexto 1">
            <a:extLst>
              <a:ext uri="{FF2B5EF4-FFF2-40B4-BE49-F238E27FC236}">
                <a16:creationId xmlns:a16="http://schemas.microsoft.com/office/drawing/2014/main" id="{C6E3F0C7-2CF3-ADE2-B2BF-B0EBCC170E8D}"/>
              </a:ext>
            </a:extLst>
          </p:cNvPr>
          <p:cNvSpPr txBox="1"/>
          <p:nvPr/>
        </p:nvSpPr>
        <p:spPr>
          <a:xfrm>
            <a:off x="317241" y="1296955"/>
            <a:ext cx="5778759" cy="4401205"/>
          </a:xfrm>
          <a:prstGeom prst="rect">
            <a:avLst/>
          </a:prstGeom>
          <a:noFill/>
        </p:spPr>
        <p:txBody>
          <a:bodyPr wrap="square" rtlCol="0">
            <a:spAutoFit/>
          </a:bodyPr>
          <a:lstStyle/>
          <a:p>
            <a:r>
              <a:rPr lang="es-CO" sz="2000" b="1" dirty="0">
                <a:solidFill>
                  <a:schemeClr val="bg1"/>
                </a:solidFill>
                <a:latin typeface="Times New Roman" panose="02020603050405020304" pitchFamily="18" charset="0"/>
                <a:cs typeface="Times New Roman" panose="02020603050405020304" pitchFamily="18" charset="0"/>
              </a:rPr>
              <a:t>3. </a:t>
            </a:r>
            <a:r>
              <a:rPr lang="es-ES" sz="2000" dirty="0">
                <a:solidFill>
                  <a:schemeClr val="bg1"/>
                </a:solidFill>
                <a:latin typeface="Times New Roman" panose="02020603050405020304" pitchFamily="18" charset="0"/>
                <a:cs typeface="Times New Roman" panose="02020603050405020304" pitchFamily="18" charset="0"/>
              </a:rPr>
              <a:t>módulo de gestión de personal</a:t>
            </a:r>
          </a:p>
          <a:p>
            <a:r>
              <a:rPr lang="es-ES" sz="2000" dirty="0">
                <a:solidFill>
                  <a:schemeClr val="bg1"/>
                </a:solidFill>
                <a:latin typeface="Times New Roman" panose="02020603050405020304" pitchFamily="18" charset="0"/>
                <a:cs typeface="Times New Roman" panose="02020603050405020304" pitchFamily="18" charset="0"/>
              </a:rPr>
              <a:t>Funcionalidades:</a:t>
            </a:r>
          </a:p>
          <a:p>
            <a:endParaRPr lang="es-ES" sz="20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Registrar información básica del personal (nombre, especialidad u oficio).</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Actualizar información básica del personal.</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Asociar empleados a proyectos específicos.</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Consultar participación de empleados en proyectos.</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Identificar si un empleado está asignado o no a una obra.</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Este módulo se enfoca en el registro y relación del personal con los proyectos.</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No incluye contratación, nómina, evaluaciones, ni procesos de recursos humanos.</a:t>
            </a:r>
            <a:endParaRPr lang="es-CO"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E384A8B1-9395-F5A3-7BF6-EC2172000025}"/>
              </a:ext>
            </a:extLst>
          </p:cNvPr>
          <p:cNvSpPr txBox="1"/>
          <p:nvPr/>
        </p:nvSpPr>
        <p:spPr>
          <a:xfrm>
            <a:off x="6270171" y="1296955"/>
            <a:ext cx="5150498" cy="4401205"/>
          </a:xfrm>
          <a:prstGeom prst="rect">
            <a:avLst/>
          </a:prstGeom>
          <a:noFill/>
        </p:spPr>
        <p:txBody>
          <a:bodyPr wrap="square" rtlCol="0">
            <a:spAutoFit/>
          </a:bodyPr>
          <a:lstStyle/>
          <a:p>
            <a:r>
              <a:rPr lang="es-CO" sz="2000" b="1" dirty="0">
                <a:solidFill>
                  <a:schemeClr val="bg1"/>
                </a:solidFill>
                <a:latin typeface="Times New Roman" panose="02020603050405020304" pitchFamily="18" charset="0"/>
                <a:cs typeface="Times New Roman" panose="02020603050405020304" pitchFamily="18" charset="0"/>
              </a:rPr>
              <a:t>4. </a:t>
            </a:r>
            <a:r>
              <a:rPr lang="es-CO" sz="2000" dirty="0">
                <a:solidFill>
                  <a:schemeClr val="bg1"/>
                </a:solidFill>
                <a:latin typeface="Times New Roman" panose="02020603050405020304" pitchFamily="18" charset="0"/>
                <a:cs typeface="Times New Roman" panose="02020603050405020304" pitchFamily="18" charset="0"/>
              </a:rPr>
              <a:t>mó</a:t>
            </a:r>
            <a:r>
              <a:rPr lang="es-ES" sz="2000" dirty="0">
                <a:solidFill>
                  <a:schemeClr val="bg1"/>
                </a:solidFill>
                <a:latin typeface="Times New Roman" panose="02020603050405020304" pitchFamily="18" charset="0"/>
                <a:cs typeface="Times New Roman" panose="02020603050405020304" pitchFamily="18" charset="0"/>
              </a:rPr>
              <a:t>dulo de registro de materiales por proyecto</a:t>
            </a:r>
          </a:p>
          <a:p>
            <a:r>
              <a:rPr lang="es-ES" sz="2000" dirty="0">
                <a:solidFill>
                  <a:schemeClr val="bg1"/>
                </a:solidFill>
                <a:latin typeface="Times New Roman" panose="02020603050405020304" pitchFamily="18" charset="0"/>
                <a:cs typeface="Times New Roman" panose="02020603050405020304" pitchFamily="18" charset="0"/>
              </a:rPr>
              <a:t>Funcionalidades:</a:t>
            </a:r>
          </a:p>
          <a:p>
            <a:endParaRPr lang="es-ES" sz="20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Registrar los materiales utilizados en cada proyecto.</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Asociar materiales a un proyecto específico.</a:t>
            </a:r>
          </a:p>
          <a:p>
            <a:pPr marL="342900" indent="-342900">
              <a:buFont typeface="Arial" panose="020B0604020202020204" pitchFamily="34" charset="0"/>
              <a:buChar char="•"/>
            </a:pPr>
            <a:r>
              <a:rPr lang="es-ES" sz="2000" dirty="0">
                <a:solidFill>
                  <a:schemeClr val="bg1"/>
                </a:solidFill>
                <a:latin typeface="Times New Roman" panose="02020603050405020304" pitchFamily="18" charset="0"/>
                <a:cs typeface="Times New Roman" panose="02020603050405020304" pitchFamily="18" charset="0"/>
              </a:rPr>
              <a:t>Consultar los materiales registrados por proyecto. </a:t>
            </a:r>
          </a:p>
          <a:p>
            <a:endParaRPr lang="es-ES" sz="2000" dirty="0">
              <a:solidFill>
                <a:schemeClr val="bg1"/>
              </a:solidFill>
              <a:latin typeface="Times New Roman" panose="02020603050405020304" pitchFamily="18" charset="0"/>
              <a:cs typeface="Times New Roman" panose="02020603050405020304" pitchFamily="18" charset="0"/>
            </a:endParaRPr>
          </a:p>
          <a:p>
            <a:r>
              <a:rPr lang="es-ES" sz="2000" dirty="0">
                <a:solidFill>
                  <a:schemeClr val="bg1"/>
                </a:solidFill>
                <a:latin typeface="Times New Roman" panose="02020603050405020304" pitchFamily="18" charset="0"/>
                <a:cs typeface="Times New Roman" panose="02020603050405020304" pitchFamily="18" charset="0"/>
              </a:rPr>
              <a:t>Este módulo solo documenta los materiales utilizados en las obras.</a:t>
            </a:r>
          </a:p>
          <a:p>
            <a:endParaRPr lang="es-ES" sz="2000" dirty="0">
              <a:solidFill>
                <a:schemeClr val="bg1"/>
              </a:solidFill>
              <a:latin typeface="Times New Roman" panose="02020603050405020304" pitchFamily="18" charset="0"/>
              <a:cs typeface="Times New Roman" panose="02020603050405020304" pitchFamily="18" charset="0"/>
            </a:endParaRPr>
          </a:p>
          <a:p>
            <a:r>
              <a:rPr lang="es-CO" sz="2000" dirty="0">
                <a:solidFill>
                  <a:schemeClr val="bg1"/>
                </a:solidFill>
                <a:latin typeface="Times New Roman" panose="02020603050405020304" pitchFamily="18" charset="0"/>
                <a:cs typeface="Times New Roman" panose="02020603050405020304" pitchFamily="18" charset="0"/>
              </a:rPr>
              <a:t>No incluye control de inventarios, compras, almacenamiento ni logística.</a:t>
            </a:r>
            <a:endParaRPr lang="es-CO"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599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34E74CA0-3076-A968-AA32-1423E27BCBFA}"/>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6473A29-46A8-8FE6-B2FC-D9246939F4F5}"/>
              </a:ext>
            </a:extLst>
          </p:cNvPr>
          <p:cNvPicPr>
            <a:picLocks noChangeAspect="1"/>
          </p:cNvPicPr>
          <p:nvPr/>
        </p:nvPicPr>
        <p:blipFill>
          <a:blip r:embed="rId3"/>
          <a:stretch>
            <a:fillRect/>
          </a:stretch>
        </p:blipFill>
        <p:spPr>
          <a:xfrm>
            <a:off x="301295" y="291197"/>
            <a:ext cx="10467975" cy="1009650"/>
          </a:xfrm>
          <a:prstGeom prst="rect">
            <a:avLst/>
          </a:prstGeom>
        </p:spPr>
      </p:pic>
      <p:sp>
        <p:nvSpPr>
          <p:cNvPr id="2" name="Título 1">
            <a:extLst>
              <a:ext uri="{FF2B5EF4-FFF2-40B4-BE49-F238E27FC236}">
                <a16:creationId xmlns:a16="http://schemas.microsoft.com/office/drawing/2014/main" id="{26341415-17E2-51B1-DCB0-7CC4751A78AB}"/>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tx1">
                    <a:lumMod val="95000"/>
                    <a:lumOff val="5000"/>
                  </a:schemeClr>
                </a:solidFill>
                <a:latin typeface="Times New Roman" panose="02020603050405020304" pitchFamily="18" charset="0"/>
                <a:cs typeface="Times New Roman" panose="02020603050405020304" pitchFamily="18" charset="0"/>
              </a:rPr>
              <a:t>MÓDULO DEL SISTEMA (5)</a:t>
            </a:r>
          </a:p>
        </p:txBody>
      </p:sp>
      <p:sp>
        <p:nvSpPr>
          <p:cNvPr id="5" name="CuadroTexto 4">
            <a:extLst>
              <a:ext uri="{FF2B5EF4-FFF2-40B4-BE49-F238E27FC236}">
                <a16:creationId xmlns:a16="http://schemas.microsoft.com/office/drawing/2014/main" id="{DDA0FD38-B058-25F0-59E1-FD0606F472FC}"/>
              </a:ext>
            </a:extLst>
          </p:cNvPr>
          <p:cNvSpPr txBox="1"/>
          <p:nvPr/>
        </p:nvSpPr>
        <p:spPr>
          <a:xfrm>
            <a:off x="456236" y="1566879"/>
            <a:ext cx="7173129" cy="4391587"/>
          </a:xfrm>
          <a:prstGeom prst="rect">
            <a:avLst/>
          </a:prstGeom>
          <a:noFill/>
        </p:spPr>
        <p:txBody>
          <a:bodyPr wrap="square">
            <a:spAutoFit/>
          </a:bodyPr>
          <a:lstStyle/>
          <a:p>
            <a:pPr algn="just">
              <a:lnSpc>
                <a:spcPct val="115000"/>
              </a:lnSpc>
              <a:spcAft>
                <a:spcPts val="800"/>
              </a:spcAft>
              <a:buNone/>
            </a:pPr>
            <a:r>
              <a:rPr lang="es-CO" kern="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Módulo de seguimiento de proyectos</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Funcionalidades: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Registrar tareas asociadas a un proyecto.</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Asignar responsables a las tareas.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Registrar avances de las actividades.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Visualizar el progreso mediante diagramas de Gantt.</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Generar reportes de avance del proyecto mediante diagramas de Gantt.</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Este módulo se encarga exclusivamente del seguimiento del avance del proyecto.</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No gestiona la información general del proyecto ni la asignación base de clientes o personal.</a:t>
            </a:r>
            <a:endParaRPr lang="es-CO"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01719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3972</TotalTime>
  <Words>1503</Words>
  <Application>Microsoft Office PowerPoint</Application>
  <PresentationFormat>Panorámica</PresentationFormat>
  <Paragraphs>91</Paragraphs>
  <Slides>12</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12</vt:i4>
      </vt:variant>
    </vt:vector>
  </HeadingPairs>
  <TitlesOfParts>
    <vt:vector size="20" baseType="lpstr">
      <vt:lpstr>Arial</vt:lpstr>
      <vt:lpstr>Calibri</vt:lpstr>
      <vt:lpstr>Calibri Light</vt:lpstr>
      <vt:lpstr>Times New Roman</vt:lpstr>
      <vt:lpstr>Work Sans</vt:lpstr>
      <vt:lpstr>Work Sans Light</vt:lpstr>
      <vt:lpstr>Work Sans Medium</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ALCANCE</vt:lpstr>
      <vt:lpstr>MÓDULOS DEL SISTEMA (1 Y 2)</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JUAN DIEGO DIAZ NAVAS</cp:lastModifiedBy>
  <cp:revision>43</cp:revision>
  <dcterms:created xsi:type="dcterms:W3CDTF">2020-10-01T23:51:28Z</dcterms:created>
  <dcterms:modified xsi:type="dcterms:W3CDTF">2026-06-27T03:57:53Z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